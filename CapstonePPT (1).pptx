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8" r:id="rId2"/>
    <p:sldId id="260" r:id="rId3"/>
    <p:sldId id="261" r:id="rId4"/>
    <p:sldId id="263" r:id="rId5"/>
    <p:sldId id="265" r:id="rId6"/>
    <p:sldId id="262" r:id="rId7"/>
    <p:sldId id="264" r:id="rId8"/>
    <p:sldId id="274" r:id="rId9"/>
    <p:sldId id="266" r:id="rId10"/>
    <p:sldId id="275" r:id="rId11"/>
    <p:sldId id="268" r:id="rId12"/>
    <p:sldId id="269" r:id="rId13"/>
    <p:sldId id="271" r:id="rId14"/>
    <p:sldId id="272" r:id="rId15"/>
    <p:sldId id="273"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7141"/>
    <a:srgbClr val="425A37"/>
    <a:srgbClr val="335F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233"/>
    <p:restoredTop sz="95788"/>
  </p:normalViewPr>
  <p:slideViewPr>
    <p:cSldViewPr snapToGrid="0">
      <p:cViewPr varScale="1">
        <p:scale>
          <a:sx n="111" d="100"/>
          <a:sy n="111" d="100"/>
        </p:scale>
        <p:origin x="42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GB"/>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12/13/25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12/13/25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GB"/>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12/13/25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12/13/25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GB"/>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12/13/25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12/13/25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C"/>
          </a:p>
        </p:txBody>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C"/>
          </a:p>
        </p:txBody>
      </p:sp>
      <p:sp>
        <p:nvSpPr>
          <p:cNvPr id="2" name="Date Placeholder 1"/>
          <p:cNvSpPr>
            <a:spLocks noGrp="1"/>
          </p:cNvSpPr>
          <p:nvPr>
            <p:ph type="dt" sz="half" idx="10"/>
          </p:nvPr>
        </p:nvSpPr>
        <p:spPr/>
        <p:txBody>
          <a:bodyPr/>
          <a:lstStyle/>
          <a:p>
            <a:fld id="{921D9284-D300-4297-87F7-E791DCC15DB1}" type="datetimeFigureOut">
              <a:rPr lang="en-US" dirty="0"/>
              <a:t>12/13/25</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12/13/25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12/13/25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12/13/25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12/13/25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C"/>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12/13/25</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C"/>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TEM for Development">
            <a:extLst>
              <a:ext uri="{FF2B5EF4-FFF2-40B4-BE49-F238E27FC236}">
                <a16:creationId xmlns:a16="http://schemas.microsoft.com/office/drawing/2014/main" id="{8AF89CF1-4042-363D-C63B-BC333029F5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8948" y="276828"/>
            <a:ext cx="2717800" cy="16764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346B6E8-B670-1D9F-1F1D-FD8CA9B12D0C}"/>
              </a:ext>
            </a:extLst>
          </p:cNvPr>
          <p:cNvSpPr/>
          <p:nvPr/>
        </p:nvSpPr>
        <p:spPr>
          <a:xfrm>
            <a:off x="3982495" y="276828"/>
            <a:ext cx="7060557" cy="1636258"/>
          </a:xfrm>
          <a:prstGeom prst="rect">
            <a:avLst/>
          </a:prstGeom>
          <a:gradFill flip="none" rotWithShape="1">
            <a:gsLst>
              <a:gs pos="0">
                <a:srgbClr val="335F20">
                  <a:shade val="30000"/>
                  <a:satMod val="115000"/>
                </a:srgbClr>
              </a:gs>
              <a:gs pos="50000">
                <a:srgbClr val="335F20">
                  <a:shade val="67500"/>
                  <a:satMod val="115000"/>
                </a:srgbClr>
              </a:gs>
              <a:gs pos="100000">
                <a:srgbClr val="335F20">
                  <a:shade val="100000"/>
                  <a:satMod val="115000"/>
                </a:srgbClr>
              </a:gs>
            </a:gsLst>
            <a:path path="circle">
              <a:fillToRect l="100000" b="100000"/>
            </a:path>
            <a:tileRect t="-100000" r="-100000"/>
          </a:gra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fontAlgn="base"/>
            <a:r>
              <a:rPr lang="en-US" sz="2800" b="1" i="0" dirty="0">
                <a:solidFill>
                  <a:schemeClr val="tx1"/>
                </a:solidFill>
                <a:effectLst/>
                <a:latin typeface="Aptos" panose="020B0004020202020204" pitchFamily="34" charset="0"/>
              </a:rPr>
              <a:t>STEM for Development</a:t>
            </a:r>
            <a:r>
              <a:rPr lang="en-US" sz="2800" b="0" i="0" dirty="0">
                <a:solidFill>
                  <a:schemeClr val="tx1"/>
                </a:solidFill>
                <a:effectLst/>
                <a:latin typeface="Aptos" panose="020B0004020202020204" pitchFamily="34" charset="0"/>
              </a:rPr>
              <a:t> </a:t>
            </a:r>
            <a:endParaRPr lang="en-US" sz="2800" b="0" i="0" dirty="0">
              <a:solidFill>
                <a:schemeClr val="tx1"/>
              </a:solidFill>
              <a:effectLst/>
              <a:latin typeface="Segoe UI" panose="020B0502040204020203" pitchFamily="34" charset="0"/>
            </a:endParaRPr>
          </a:p>
          <a:p>
            <a:pPr algn="ctr" rtl="0" fontAlgn="base"/>
            <a:r>
              <a:rPr lang="en-US" sz="2800" b="0" i="0" dirty="0">
                <a:solidFill>
                  <a:schemeClr val="tx1"/>
                </a:solidFill>
                <a:effectLst/>
                <a:latin typeface="Aptos" panose="020B0004020202020204" pitchFamily="34" charset="0"/>
              </a:rPr>
              <a:t>Introduction to Statistics &amp; Data Science </a:t>
            </a:r>
            <a:endParaRPr lang="en-US" sz="2800" b="0" i="0" dirty="0">
              <a:solidFill>
                <a:schemeClr val="tx1"/>
              </a:solidFill>
              <a:effectLst/>
              <a:latin typeface="Segoe UI" panose="020B0502040204020203" pitchFamily="34" charset="0"/>
            </a:endParaRPr>
          </a:p>
          <a:p>
            <a:pPr algn="ctr"/>
            <a:endParaRPr lang="en-PK" dirty="0">
              <a:solidFill>
                <a:schemeClr val="bg1"/>
              </a:solidFill>
            </a:endParaRPr>
          </a:p>
        </p:txBody>
      </p:sp>
      <p:sp>
        <p:nvSpPr>
          <p:cNvPr id="3" name="Rectangle 2">
            <a:extLst>
              <a:ext uri="{FF2B5EF4-FFF2-40B4-BE49-F238E27FC236}">
                <a16:creationId xmlns:a16="http://schemas.microsoft.com/office/drawing/2014/main" id="{3126482D-3A82-10CC-5282-E9883E25BD9D}"/>
              </a:ext>
            </a:extLst>
          </p:cNvPr>
          <p:cNvSpPr/>
          <p:nvPr/>
        </p:nvSpPr>
        <p:spPr>
          <a:xfrm>
            <a:off x="2657605" y="2527126"/>
            <a:ext cx="6876789" cy="901874"/>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solidFill>
              <a:srgbClr val="425A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highlight>
                <a:srgbClr val="808000"/>
              </a:highlight>
            </a:endParaRPr>
          </a:p>
        </p:txBody>
      </p:sp>
      <p:sp>
        <p:nvSpPr>
          <p:cNvPr id="4" name="TextBox 3">
            <a:extLst>
              <a:ext uri="{FF2B5EF4-FFF2-40B4-BE49-F238E27FC236}">
                <a16:creationId xmlns:a16="http://schemas.microsoft.com/office/drawing/2014/main" id="{48A1D933-664C-F390-BB28-757C15C1977B}"/>
              </a:ext>
            </a:extLst>
          </p:cNvPr>
          <p:cNvSpPr txBox="1"/>
          <p:nvPr/>
        </p:nvSpPr>
        <p:spPr>
          <a:xfrm>
            <a:off x="2824617" y="2649426"/>
            <a:ext cx="6663847" cy="646331"/>
          </a:xfrm>
          <a:prstGeom prst="rect">
            <a:avLst/>
          </a:prstGeom>
          <a:noFill/>
        </p:spPr>
        <p:txBody>
          <a:bodyPr wrap="square" rtlCol="0">
            <a:spAutoFit/>
          </a:bodyPr>
          <a:lstStyle/>
          <a:p>
            <a:r>
              <a:rPr lang="en-US" sz="1800" b="1" i="0" dirty="0">
                <a:solidFill>
                  <a:schemeClr val="bg1"/>
                </a:solidFill>
                <a:effectLst/>
                <a:latin typeface="Aptos" panose="020B0004020202020204" pitchFamily="34" charset="0"/>
              </a:rPr>
              <a:t>Capstone Project: </a:t>
            </a:r>
            <a:r>
              <a:rPr lang="en-US" sz="1800" b="0" i="0" dirty="0">
                <a:solidFill>
                  <a:schemeClr val="bg1"/>
                </a:solidFill>
                <a:effectLst/>
                <a:latin typeface="Aptos" panose="020B0004020202020204" pitchFamily="34" charset="0"/>
              </a:rPr>
              <a:t>Environmental Awareness &amp; Carbon </a:t>
            </a:r>
            <a:r>
              <a:rPr lang="en-US" dirty="0">
                <a:solidFill>
                  <a:schemeClr val="bg1"/>
                </a:solidFill>
                <a:latin typeface="Aptos" panose="020B0004020202020204" pitchFamily="34" charset="0"/>
              </a:rPr>
              <a:t>F</a:t>
            </a:r>
            <a:r>
              <a:rPr lang="en-US" sz="1800" b="0" i="0" dirty="0">
                <a:solidFill>
                  <a:schemeClr val="bg1"/>
                </a:solidFill>
                <a:effectLst/>
                <a:latin typeface="Aptos" panose="020B0004020202020204" pitchFamily="34" charset="0"/>
              </a:rPr>
              <a:t>ootprint </a:t>
            </a:r>
            <a:r>
              <a:rPr lang="en-US" dirty="0">
                <a:solidFill>
                  <a:schemeClr val="bg1"/>
                </a:solidFill>
                <a:latin typeface="Aptos" panose="020B0004020202020204" pitchFamily="34" charset="0"/>
              </a:rPr>
              <a:t>A</a:t>
            </a:r>
            <a:r>
              <a:rPr lang="en-US" sz="1800" b="0" i="0" dirty="0">
                <a:solidFill>
                  <a:schemeClr val="bg1"/>
                </a:solidFill>
                <a:effectLst/>
                <a:latin typeface="Aptos" panose="020B0004020202020204" pitchFamily="34" charset="0"/>
              </a:rPr>
              <a:t>nalysis. </a:t>
            </a:r>
            <a:endParaRPr lang="en-PK" dirty="0">
              <a:solidFill>
                <a:schemeClr val="bg1"/>
              </a:solidFill>
            </a:endParaRPr>
          </a:p>
        </p:txBody>
      </p:sp>
      <p:sp>
        <p:nvSpPr>
          <p:cNvPr id="6" name="Rectangle 5">
            <a:extLst>
              <a:ext uri="{FF2B5EF4-FFF2-40B4-BE49-F238E27FC236}">
                <a16:creationId xmlns:a16="http://schemas.microsoft.com/office/drawing/2014/main" id="{7732866D-0A98-B1EB-EA82-5CE7EFD8CE77}"/>
              </a:ext>
            </a:extLst>
          </p:cNvPr>
          <p:cNvSpPr/>
          <p:nvPr/>
        </p:nvSpPr>
        <p:spPr>
          <a:xfrm>
            <a:off x="2718148" y="3646079"/>
            <a:ext cx="3169085" cy="247075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rtl="0" fontAlgn="base"/>
            <a:br>
              <a:rPr lang="en-US" sz="1800" b="1" i="0" dirty="0">
                <a:solidFill>
                  <a:schemeClr val="tx1"/>
                </a:solidFill>
                <a:effectLst/>
                <a:latin typeface="Aptos" panose="020B0004020202020204" pitchFamily="34" charset="0"/>
              </a:rPr>
            </a:br>
            <a:r>
              <a:rPr lang="en-US" sz="1800" b="1" i="0" dirty="0">
                <a:solidFill>
                  <a:schemeClr val="tx1"/>
                </a:solidFill>
                <a:effectLst/>
                <a:latin typeface="Aptos" panose="020B0004020202020204" pitchFamily="34" charset="0"/>
              </a:rPr>
              <a:t>Members — Group #2: </a:t>
            </a:r>
            <a:r>
              <a:rPr lang="en-US" sz="1800" b="0" i="0" dirty="0">
                <a:solidFill>
                  <a:schemeClr val="tx1"/>
                </a:solidFill>
                <a:effectLst/>
                <a:latin typeface="Aptos" panose="020B0004020202020204" pitchFamily="34" charset="0"/>
              </a:rPr>
              <a:t> </a:t>
            </a:r>
            <a:br>
              <a:rPr lang="en-US" sz="1800" b="0" i="0" dirty="0">
                <a:solidFill>
                  <a:schemeClr val="tx1"/>
                </a:solidFill>
                <a:effectLst/>
                <a:latin typeface="Aptos" panose="020B0004020202020204" pitchFamily="34" charset="0"/>
              </a:rPr>
            </a:br>
            <a:endParaRPr lang="en-US" sz="1400" b="0" i="0" dirty="0">
              <a:solidFill>
                <a:schemeClr val="tx1"/>
              </a:solidFill>
              <a:effectLst/>
              <a:latin typeface="Segoe UI" panose="020B0502040204020203" pitchFamily="34" charset="0"/>
            </a:endParaRPr>
          </a:p>
          <a:p>
            <a:pPr algn="ctr" fontAlgn="base"/>
            <a:r>
              <a:rPr lang="en-US" dirty="0">
                <a:solidFill>
                  <a:schemeClr val="tx1"/>
                </a:solidFill>
                <a:latin typeface="Aptos" panose="020B0004020202020204" pitchFamily="34" charset="0"/>
              </a:rPr>
              <a:t>Lia Tamara Cedeño Zambrano </a:t>
            </a:r>
            <a:endParaRPr lang="en-US" sz="1400" dirty="0">
              <a:solidFill>
                <a:schemeClr val="tx1"/>
              </a:solidFill>
              <a:latin typeface="Segoe UI" panose="020B0502040204020203" pitchFamily="34" charset="0"/>
            </a:endParaRPr>
          </a:p>
          <a:p>
            <a:pPr algn="ctr" rtl="0" fontAlgn="base"/>
            <a:r>
              <a:rPr lang="en-US" sz="1800" b="0" i="0" dirty="0">
                <a:solidFill>
                  <a:schemeClr val="tx1"/>
                </a:solidFill>
                <a:effectLst/>
                <a:latin typeface="Aptos" panose="020B0004020202020204" pitchFamily="34" charset="0"/>
              </a:rPr>
              <a:t>Khadija Khatoon </a:t>
            </a:r>
            <a:endParaRPr lang="en-US" sz="1400" b="0" i="0" dirty="0">
              <a:solidFill>
                <a:schemeClr val="tx1"/>
              </a:solidFill>
              <a:effectLst/>
              <a:latin typeface="Segoe UI" panose="020B0502040204020203" pitchFamily="34" charset="0"/>
            </a:endParaRPr>
          </a:p>
          <a:p>
            <a:pPr algn="ctr" rtl="0" fontAlgn="base"/>
            <a:r>
              <a:rPr lang="en-US" sz="1800" b="0" i="0" dirty="0">
                <a:solidFill>
                  <a:schemeClr val="tx1"/>
                </a:solidFill>
                <a:effectLst/>
                <a:latin typeface="Aptos" panose="020B0004020202020204" pitchFamily="34" charset="0"/>
              </a:rPr>
              <a:t>Maryam </a:t>
            </a:r>
            <a:r>
              <a:rPr lang="en-US" sz="1800" b="0" i="0" dirty="0" err="1">
                <a:solidFill>
                  <a:schemeClr val="tx1"/>
                </a:solidFill>
                <a:effectLst/>
                <a:latin typeface="Aptos" panose="020B0004020202020204" pitchFamily="34" charset="0"/>
              </a:rPr>
              <a:t>Hampaei</a:t>
            </a:r>
            <a:r>
              <a:rPr lang="en-US" sz="1800" b="0" i="0" dirty="0">
                <a:solidFill>
                  <a:schemeClr val="tx1"/>
                </a:solidFill>
                <a:effectLst/>
                <a:latin typeface="Aptos" panose="020B0004020202020204" pitchFamily="34" charset="0"/>
              </a:rPr>
              <a:t> </a:t>
            </a:r>
            <a:endParaRPr lang="en-US" sz="1400" b="0" i="0" dirty="0">
              <a:solidFill>
                <a:schemeClr val="tx1"/>
              </a:solidFill>
              <a:effectLst/>
              <a:latin typeface="Segoe UI" panose="020B0502040204020203" pitchFamily="34" charset="0"/>
            </a:endParaRPr>
          </a:p>
          <a:p>
            <a:pPr algn="ctr" rtl="0" fontAlgn="base"/>
            <a:r>
              <a:rPr lang="en-US" sz="1800" b="0" i="0" dirty="0" err="1">
                <a:solidFill>
                  <a:schemeClr val="tx1"/>
                </a:solidFill>
                <a:effectLst/>
                <a:latin typeface="Aptos" panose="020B0004020202020204" pitchFamily="34" charset="0"/>
              </a:rPr>
              <a:t>Ofei</a:t>
            </a:r>
            <a:r>
              <a:rPr lang="en-US" sz="1800" b="0" i="0" dirty="0">
                <a:solidFill>
                  <a:schemeClr val="tx1"/>
                </a:solidFill>
                <a:effectLst/>
                <a:latin typeface="Aptos" panose="020B0004020202020204" pitchFamily="34" charset="0"/>
              </a:rPr>
              <a:t> Harriet </a:t>
            </a:r>
            <a:r>
              <a:rPr lang="en-US" sz="1800" b="0" i="0" dirty="0" err="1">
                <a:solidFill>
                  <a:schemeClr val="tx1"/>
                </a:solidFill>
                <a:effectLst/>
                <a:latin typeface="Aptos" panose="020B0004020202020204" pitchFamily="34" charset="0"/>
              </a:rPr>
              <a:t>Koryo</a:t>
            </a:r>
            <a:r>
              <a:rPr lang="en-US" sz="1800" b="0" i="0" dirty="0">
                <a:solidFill>
                  <a:schemeClr val="tx1"/>
                </a:solidFill>
                <a:effectLst/>
                <a:latin typeface="Aptos" panose="020B0004020202020204" pitchFamily="34" charset="0"/>
              </a:rPr>
              <a:t> </a:t>
            </a:r>
            <a:endParaRPr lang="en-US" sz="1400" b="0" i="0" dirty="0">
              <a:solidFill>
                <a:schemeClr val="tx1"/>
              </a:solidFill>
              <a:effectLst/>
              <a:latin typeface="Segoe UI" panose="020B0502040204020203" pitchFamily="34" charset="0"/>
            </a:endParaRPr>
          </a:p>
          <a:p>
            <a:pPr algn="ctr"/>
            <a:endParaRPr lang="en-PK" dirty="0">
              <a:solidFill>
                <a:schemeClr val="bg1"/>
              </a:solidFill>
            </a:endParaRPr>
          </a:p>
        </p:txBody>
      </p:sp>
      <p:sp>
        <p:nvSpPr>
          <p:cNvPr id="8" name="Rectangle 7">
            <a:extLst>
              <a:ext uri="{FF2B5EF4-FFF2-40B4-BE49-F238E27FC236}">
                <a16:creationId xmlns:a16="http://schemas.microsoft.com/office/drawing/2014/main" id="{733B7ABB-6263-71B2-39F6-0D270FD9C962}"/>
              </a:ext>
            </a:extLst>
          </p:cNvPr>
          <p:cNvSpPr/>
          <p:nvPr/>
        </p:nvSpPr>
        <p:spPr>
          <a:xfrm>
            <a:off x="6156541" y="3646080"/>
            <a:ext cx="3169085" cy="247075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rtl="0" fontAlgn="base"/>
            <a:br>
              <a:rPr lang="en-US" sz="1800" b="1" i="0" dirty="0">
                <a:solidFill>
                  <a:schemeClr val="tx1"/>
                </a:solidFill>
                <a:effectLst/>
                <a:latin typeface="Aptos" panose="020B0004020202020204" pitchFamily="34" charset="0"/>
              </a:rPr>
            </a:br>
            <a:r>
              <a:rPr lang="en-US" sz="1800" b="1" i="0" dirty="0">
                <a:solidFill>
                  <a:schemeClr val="tx1"/>
                </a:solidFill>
                <a:effectLst/>
                <a:latin typeface="Aptos" panose="020B0004020202020204" pitchFamily="34" charset="0"/>
              </a:rPr>
              <a:t>Instructors: </a:t>
            </a:r>
            <a:r>
              <a:rPr lang="en-US" sz="1800" b="0" i="0" dirty="0">
                <a:solidFill>
                  <a:schemeClr val="tx1"/>
                </a:solidFill>
                <a:effectLst/>
                <a:latin typeface="Aptos" panose="020B0004020202020204" pitchFamily="34" charset="0"/>
              </a:rPr>
              <a:t> </a:t>
            </a:r>
            <a:br>
              <a:rPr lang="en-US" sz="1800" b="0" i="0" dirty="0">
                <a:solidFill>
                  <a:schemeClr val="tx1"/>
                </a:solidFill>
                <a:effectLst/>
                <a:latin typeface="Aptos" panose="020B0004020202020204" pitchFamily="34" charset="0"/>
              </a:rPr>
            </a:br>
            <a:endParaRPr lang="en-US" sz="1400" b="0" i="0" dirty="0">
              <a:solidFill>
                <a:schemeClr val="tx1"/>
              </a:solidFill>
              <a:effectLst/>
              <a:latin typeface="Segoe UI" panose="020B0502040204020203" pitchFamily="34" charset="0"/>
            </a:endParaRPr>
          </a:p>
          <a:p>
            <a:pPr algn="ctr" rtl="0" fontAlgn="base"/>
            <a:r>
              <a:rPr lang="en-US" sz="1800" b="0" i="0" dirty="0">
                <a:solidFill>
                  <a:schemeClr val="tx1"/>
                </a:solidFill>
                <a:effectLst/>
                <a:latin typeface="Aptos" panose="020B0004020202020204" pitchFamily="34" charset="0"/>
              </a:rPr>
              <a:t>Charles Opondo </a:t>
            </a:r>
            <a:endParaRPr lang="en-US" sz="1400" b="0" i="0" dirty="0">
              <a:solidFill>
                <a:schemeClr val="tx1"/>
              </a:solidFill>
              <a:effectLst/>
              <a:latin typeface="Segoe UI" panose="020B0502040204020203" pitchFamily="34" charset="0"/>
            </a:endParaRPr>
          </a:p>
          <a:p>
            <a:pPr algn="ctr" rtl="0" fontAlgn="base"/>
            <a:r>
              <a:rPr lang="en-US" sz="1800" b="0" i="0" dirty="0" err="1">
                <a:solidFill>
                  <a:schemeClr val="tx1"/>
                </a:solidFill>
                <a:effectLst/>
                <a:latin typeface="Aptos" panose="020B0004020202020204" pitchFamily="34" charset="0"/>
              </a:rPr>
              <a:t>Ruchir</a:t>
            </a:r>
            <a:r>
              <a:rPr lang="en-US" sz="1800" b="0" i="0" dirty="0">
                <a:solidFill>
                  <a:schemeClr val="tx1"/>
                </a:solidFill>
                <a:effectLst/>
                <a:latin typeface="Aptos" panose="020B0004020202020204" pitchFamily="34" charset="0"/>
              </a:rPr>
              <a:t> Raman </a:t>
            </a:r>
            <a:endParaRPr lang="en-US" sz="1400" b="0" i="0" dirty="0">
              <a:solidFill>
                <a:schemeClr val="tx1"/>
              </a:solidFill>
              <a:effectLst/>
              <a:latin typeface="Segoe UI" panose="020B0502040204020203" pitchFamily="34" charset="0"/>
            </a:endParaRPr>
          </a:p>
          <a:p>
            <a:pPr algn="ctr" rtl="0" fontAlgn="base"/>
            <a:r>
              <a:rPr lang="en-US" sz="1800" b="0" i="0" dirty="0" err="1">
                <a:solidFill>
                  <a:schemeClr val="tx1"/>
                </a:solidFill>
                <a:effectLst/>
                <a:latin typeface="Aptos" panose="020B0004020202020204" pitchFamily="34" charset="0"/>
              </a:rPr>
              <a:t>Habibah</a:t>
            </a:r>
            <a:r>
              <a:rPr lang="en-US" sz="1800" b="0" i="0" dirty="0">
                <a:solidFill>
                  <a:schemeClr val="tx1"/>
                </a:solidFill>
                <a:effectLst/>
                <a:latin typeface="Aptos" panose="020B0004020202020204" pitchFamily="34" charset="0"/>
              </a:rPr>
              <a:t> Tijani </a:t>
            </a:r>
            <a:endParaRPr lang="en-US" sz="1400" b="0" i="0" dirty="0">
              <a:solidFill>
                <a:schemeClr val="tx1"/>
              </a:solidFill>
              <a:effectLst/>
              <a:latin typeface="Segoe UI" panose="020B0502040204020203" pitchFamily="34" charset="0"/>
            </a:endParaRPr>
          </a:p>
          <a:p>
            <a:pPr algn="ctr"/>
            <a:endParaRPr lang="en-PK" dirty="0">
              <a:solidFill>
                <a:schemeClr val="bg1"/>
              </a:solidFill>
            </a:endParaRPr>
          </a:p>
        </p:txBody>
      </p:sp>
    </p:spTree>
    <p:extLst>
      <p:ext uri="{BB962C8B-B14F-4D97-AF65-F5344CB8AC3E}">
        <p14:creationId xmlns:p14="http://schemas.microsoft.com/office/powerpoint/2010/main" val="1525095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C765D2-45AF-971C-B597-B708587E45C2}"/>
              </a:ext>
            </a:extLst>
          </p:cNvPr>
          <p:cNvSpPr/>
          <p:nvPr/>
        </p:nvSpPr>
        <p:spPr>
          <a:xfrm>
            <a:off x="1185797" y="425885"/>
            <a:ext cx="9820405" cy="851770"/>
          </a:xfrm>
          <a:prstGeom prst="rect">
            <a:avLst/>
          </a:prstGeom>
          <a:gradFill flip="none" rotWithShape="1">
            <a:gsLst>
              <a:gs pos="0">
                <a:srgbClr val="335F20">
                  <a:shade val="30000"/>
                  <a:satMod val="115000"/>
                </a:srgbClr>
              </a:gs>
              <a:gs pos="50000">
                <a:srgbClr val="335F20">
                  <a:shade val="67500"/>
                  <a:satMod val="115000"/>
                </a:srgbClr>
              </a:gs>
              <a:gs pos="100000">
                <a:srgbClr val="335F20">
                  <a:shade val="100000"/>
                  <a:satMod val="115000"/>
                </a:srgbClr>
              </a:gs>
            </a:gsLst>
            <a:path path="circle">
              <a:fillToRect l="100000" b="100000"/>
            </a:path>
            <a:tileRect t="-100000" r="-100000"/>
          </a:gradFill>
          <a:ln>
            <a:solidFill>
              <a:srgbClr val="425A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400" dirty="0">
                <a:effectLst/>
                <a:latin typeface="Aptos" panose="020B0004020202020204" pitchFamily="34" charset="0"/>
              </a:rPr>
              <a:t>To what extent do household lifestyle and environmental practices influence carbon footprint levels? </a:t>
            </a:r>
            <a:r>
              <a:rPr lang="en-PK" sz="2400" dirty="0">
                <a:latin typeface="Aptos" panose="020B0004020202020204" pitchFamily="34" charset="0"/>
              </a:rPr>
              <a:t> </a:t>
            </a:r>
          </a:p>
        </p:txBody>
      </p:sp>
      <p:sp>
        <p:nvSpPr>
          <p:cNvPr id="3" name="Rectangle 2">
            <a:extLst>
              <a:ext uri="{FF2B5EF4-FFF2-40B4-BE49-F238E27FC236}">
                <a16:creationId xmlns:a16="http://schemas.microsoft.com/office/drawing/2014/main" id="{827D9C9F-4AED-EC78-8C8D-D07147B8D3E3}"/>
              </a:ext>
            </a:extLst>
          </p:cNvPr>
          <p:cNvSpPr/>
          <p:nvPr/>
        </p:nvSpPr>
        <p:spPr>
          <a:xfrm>
            <a:off x="1185797" y="1416446"/>
            <a:ext cx="9820405" cy="501566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br>
              <a:rPr lang="en-US" sz="1800" b="0" i="0" dirty="0">
                <a:solidFill>
                  <a:schemeClr val="tx1"/>
                </a:solidFill>
                <a:effectLst/>
                <a:latin typeface="Aptos" panose="020B0004020202020204" pitchFamily="34" charset="0"/>
              </a:rPr>
            </a:br>
            <a:r>
              <a:rPr lang="en-US" sz="1800" b="1" i="0" dirty="0">
                <a:solidFill>
                  <a:schemeClr val="tx1"/>
                </a:solidFill>
                <a:effectLst/>
                <a:latin typeface="Aptos" panose="020B0004020202020204" pitchFamily="34" charset="0"/>
              </a:rPr>
              <a:t>Global warming </a:t>
            </a:r>
            <a:r>
              <a:rPr lang="en-US" sz="1800" b="0" i="0" dirty="0">
                <a:solidFill>
                  <a:schemeClr val="tx1"/>
                </a:solidFill>
                <a:effectLst/>
                <a:latin typeface="Aptos" panose="020B0004020202020204" pitchFamily="34" charset="0"/>
              </a:rPr>
              <a:t>leading to Climate change is real. While industrial activities and government policies are often highlighted as the main culprits of these excessive carbon emissions into the environment, we cannot ignore the  impact created by our household lifestyles and environmental practices.</a:t>
            </a:r>
            <a:br>
              <a:rPr lang="en-US" sz="1800" b="0" i="0" dirty="0">
                <a:solidFill>
                  <a:schemeClr val="tx1"/>
                </a:solidFill>
                <a:effectLst/>
                <a:latin typeface="Aptos" panose="020B0004020202020204" pitchFamily="34" charset="0"/>
              </a:rPr>
            </a:br>
            <a:br>
              <a:rPr lang="en-US" sz="1800" b="0" i="0" dirty="0">
                <a:solidFill>
                  <a:schemeClr val="tx1"/>
                </a:solidFill>
                <a:effectLst/>
                <a:latin typeface="Aptos" panose="020B0004020202020204" pitchFamily="34" charset="0"/>
              </a:rPr>
            </a:br>
            <a:r>
              <a:rPr lang="en-US" sz="1800" b="1" i="0" dirty="0">
                <a:solidFill>
                  <a:schemeClr val="tx1"/>
                </a:solidFill>
                <a:effectLst/>
                <a:latin typeface="Aptos" panose="020B0004020202020204" pitchFamily="34" charset="0"/>
              </a:rPr>
              <a:t>The purpose </a:t>
            </a:r>
            <a:r>
              <a:rPr lang="en-US" sz="1800" b="0" i="0" dirty="0">
                <a:solidFill>
                  <a:schemeClr val="tx1"/>
                </a:solidFill>
                <a:effectLst/>
                <a:latin typeface="Aptos" panose="020B0004020202020204" pitchFamily="34" charset="0"/>
              </a:rPr>
              <a:t>of this study is to examine how household lifestyle and their environmental practices affect carbon footprint levels. For this, a dataset with 2000 observations containing diverse variables was analyzed, including household energy use, trash management, transportation decisions and lifestyle choices, among others. </a:t>
            </a:r>
            <a:br>
              <a:rPr lang="en-US" sz="1800" b="0" i="0" dirty="0">
                <a:solidFill>
                  <a:schemeClr val="tx1"/>
                </a:solidFill>
                <a:effectLst/>
                <a:latin typeface="Aptos" panose="020B0004020202020204" pitchFamily="34" charset="0"/>
              </a:rPr>
            </a:br>
            <a:br>
              <a:rPr lang="en-US" sz="1800" b="0" i="0" dirty="0">
                <a:solidFill>
                  <a:schemeClr val="tx1"/>
                </a:solidFill>
                <a:effectLst/>
                <a:latin typeface="Aptos" panose="020B0004020202020204" pitchFamily="34" charset="0"/>
              </a:rPr>
            </a:br>
            <a:r>
              <a:rPr lang="en-US" sz="1800" b="1" i="0" dirty="0">
                <a:solidFill>
                  <a:schemeClr val="tx1"/>
                </a:solidFill>
                <a:effectLst/>
                <a:latin typeface="Aptos" panose="020B0004020202020204" pitchFamily="34" charset="0"/>
              </a:rPr>
              <a:t>The crucial insights </a:t>
            </a:r>
            <a:r>
              <a:rPr lang="en-US" sz="1800" b="0" i="0" dirty="0">
                <a:solidFill>
                  <a:schemeClr val="tx1"/>
                </a:solidFill>
                <a:effectLst/>
                <a:latin typeface="Aptos" panose="020B0004020202020204" pitchFamily="34" charset="0"/>
              </a:rPr>
              <a:t>gathered from this research will  assist us in determining which activities ought to be given priority because of their detrimental effects on the state of the global climate. Additionally, this study can help policymakers and environmental organizations develop methods to raise awareness and encourage sustainable living. </a:t>
            </a:r>
            <a:endParaRPr lang="en-PK" dirty="0">
              <a:solidFill>
                <a:schemeClr val="tx1"/>
              </a:solidFill>
            </a:endParaRPr>
          </a:p>
        </p:txBody>
      </p:sp>
    </p:spTree>
    <p:extLst>
      <p:ext uri="{BB962C8B-B14F-4D97-AF65-F5344CB8AC3E}">
        <p14:creationId xmlns:p14="http://schemas.microsoft.com/office/powerpoint/2010/main" val="1227443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C765D2-45AF-971C-B597-B708587E45C2}"/>
              </a:ext>
            </a:extLst>
          </p:cNvPr>
          <p:cNvSpPr/>
          <p:nvPr/>
        </p:nvSpPr>
        <p:spPr>
          <a:xfrm>
            <a:off x="1185797" y="425885"/>
            <a:ext cx="9820405" cy="851770"/>
          </a:xfrm>
          <a:prstGeom prst="rect">
            <a:avLst/>
          </a:prstGeom>
          <a:gradFill flip="none" rotWithShape="1">
            <a:gsLst>
              <a:gs pos="0">
                <a:srgbClr val="335F20">
                  <a:shade val="30000"/>
                  <a:satMod val="115000"/>
                </a:srgbClr>
              </a:gs>
              <a:gs pos="50000">
                <a:srgbClr val="335F20">
                  <a:shade val="67500"/>
                  <a:satMod val="115000"/>
                </a:srgbClr>
              </a:gs>
              <a:gs pos="100000">
                <a:srgbClr val="335F20">
                  <a:shade val="100000"/>
                  <a:satMod val="115000"/>
                </a:srgbClr>
              </a:gs>
            </a:gsLst>
            <a:path path="circle">
              <a:fillToRect l="100000" b="100000"/>
            </a:path>
            <a:tileRect t="-100000" r="-100000"/>
          </a:gra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400" dirty="0">
                <a:effectLst/>
                <a:latin typeface="Aptos" panose="020B0004020202020204" pitchFamily="34" charset="0"/>
              </a:rPr>
              <a:t>To what extent do household lifestyle and environmental practices influence carbon footprint levels? </a:t>
            </a:r>
            <a:r>
              <a:rPr lang="en-PK" sz="2400" dirty="0">
                <a:latin typeface="Aptos" panose="020B0004020202020204" pitchFamily="34" charset="0"/>
              </a:rPr>
              <a:t> </a:t>
            </a:r>
          </a:p>
        </p:txBody>
      </p:sp>
      <p:sp>
        <p:nvSpPr>
          <p:cNvPr id="3" name="Rectangle 2">
            <a:extLst>
              <a:ext uri="{FF2B5EF4-FFF2-40B4-BE49-F238E27FC236}">
                <a16:creationId xmlns:a16="http://schemas.microsoft.com/office/drawing/2014/main" id="{827D9C9F-4AED-EC78-8C8D-D07147B8D3E3}"/>
              </a:ext>
            </a:extLst>
          </p:cNvPr>
          <p:cNvSpPr/>
          <p:nvPr/>
        </p:nvSpPr>
        <p:spPr>
          <a:xfrm>
            <a:off x="1185797" y="1453019"/>
            <a:ext cx="9820405" cy="8517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800" b="0" i="0" dirty="0">
                <a:solidFill>
                  <a:schemeClr val="tx1"/>
                </a:solidFill>
                <a:effectLst/>
                <a:latin typeface="Aptos" panose="020B0004020202020204" pitchFamily="34" charset="0"/>
              </a:rPr>
              <a:t>This dataset captures household level environmental behaviors and carbon emissions in 2000 observations. There are twelve variables in the dataset, with four being categorical and seven being numerical. </a:t>
            </a:r>
            <a:br>
              <a:rPr lang="en-US" sz="1800" b="0" i="0" dirty="0">
                <a:solidFill>
                  <a:schemeClr val="tx1"/>
                </a:solidFill>
                <a:effectLst/>
                <a:latin typeface="Aptos" panose="020B0004020202020204" pitchFamily="34" charset="0"/>
              </a:rPr>
            </a:br>
            <a:endParaRPr lang="en-PK" dirty="0">
              <a:solidFill>
                <a:schemeClr val="tx1"/>
              </a:solidFill>
            </a:endParaRPr>
          </a:p>
        </p:txBody>
      </p:sp>
      <p:sp>
        <p:nvSpPr>
          <p:cNvPr id="5" name="Rectangle 4">
            <a:extLst>
              <a:ext uri="{FF2B5EF4-FFF2-40B4-BE49-F238E27FC236}">
                <a16:creationId xmlns:a16="http://schemas.microsoft.com/office/drawing/2014/main" id="{1F1A3777-77D6-4CCD-5BA8-115C017BAFA1}"/>
              </a:ext>
            </a:extLst>
          </p:cNvPr>
          <p:cNvSpPr/>
          <p:nvPr/>
        </p:nvSpPr>
        <p:spPr>
          <a:xfrm>
            <a:off x="2275562" y="2480153"/>
            <a:ext cx="1795398" cy="901874"/>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solidFill>
              <a:srgbClr val="425A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Categorical Variables</a:t>
            </a:r>
          </a:p>
        </p:txBody>
      </p:sp>
      <p:sp>
        <p:nvSpPr>
          <p:cNvPr id="6" name="Rectangle 5">
            <a:extLst>
              <a:ext uri="{FF2B5EF4-FFF2-40B4-BE49-F238E27FC236}">
                <a16:creationId xmlns:a16="http://schemas.microsoft.com/office/drawing/2014/main" id="{E47F670A-2FA0-B811-69B7-B0DC7DAC2959}"/>
              </a:ext>
            </a:extLst>
          </p:cNvPr>
          <p:cNvSpPr/>
          <p:nvPr/>
        </p:nvSpPr>
        <p:spPr>
          <a:xfrm>
            <a:off x="7713945" y="2480153"/>
            <a:ext cx="1795398" cy="901874"/>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solidFill>
              <a:srgbClr val="425A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Numerical Variables</a:t>
            </a:r>
          </a:p>
        </p:txBody>
      </p:sp>
      <p:sp>
        <p:nvSpPr>
          <p:cNvPr id="7" name="Rectangle 6">
            <a:extLst>
              <a:ext uri="{FF2B5EF4-FFF2-40B4-BE49-F238E27FC236}">
                <a16:creationId xmlns:a16="http://schemas.microsoft.com/office/drawing/2014/main" id="{EC51CD19-1C3F-9A05-55E0-90C8C0D5B12B}"/>
              </a:ext>
            </a:extLst>
          </p:cNvPr>
          <p:cNvSpPr/>
          <p:nvPr/>
        </p:nvSpPr>
        <p:spPr>
          <a:xfrm>
            <a:off x="1576193" y="3620022"/>
            <a:ext cx="4174252" cy="2812095"/>
          </a:xfrm>
          <a:prstGeom prst="rect">
            <a:avLst/>
          </a:prstGeom>
          <a:gradFill flip="none" rotWithShape="1">
            <a:gsLst>
              <a:gs pos="0">
                <a:srgbClr val="517141">
                  <a:shade val="30000"/>
                  <a:satMod val="115000"/>
                </a:srgbClr>
              </a:gs>
              <a:gs pos="50000">
                <a:srgbClr val="517141">
                  <a:shade val="67500"/>
                  <a:satMod val="115000"/>
                </a:srgbClr>
              </a:gs>
              <a:gs pos="100000">
                <a:srgbClr val="517141">
                  <a:shade val="100000"/>
                  <a:satMod val="115000"/>
                </a:srgbClr>
              </a:gs>
            </a:gsLst>
            <a:lin ang="189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gn="l" rtl="0" fontAlgn="base">
              <a:buFont typeface="Courier New" panose="02070309020205020404" pitchFamily="49" charset="0"/>
              <a:buChar char="o"/>
            </a:pPr>
            <a:r>
              <a:rPr lang="en-PK" sz="2000" dirty="0">
                <a:solidFill>
                  <a:schemeClr val="tx1"/>
                </a:solidFill>
              </a:rPr>
              <a:t>Household_Id</a:t>
            </a:r>
          </a:p>
          <a:p>
            <a:pPr marL="285750" indent="-285750" algn="l" rtl="0" fontAlgn="base">
              <a:buFont typeface="Courier New" panose="02070309020205020404" pitchFamily="49" charset="0"/>
              <a:buChar char="o"/>
            </a:pPr>
            <a:r>
              <a:rPr lang="en-US" sz="2000" b="0" i="0" dirty="0" err="1">
                <a:solidFill>
                  <a:schemeClr val="tx1"/>
                </a:solidFill>
                <a:effectLst/>
                <a:latin typeface="Aptos" panose="020B0004020202020204" pitchFamily="34" charset="0"/>
              </a:rPr>
              <a:t>Income_Level</a:t>
            </a:r>
            <a:r>
              <a:rPr lang="en-US" sz="2000" b="0" i="0" dirty="0">
                <a:solidFill>
                  <a:schemeClr val="tx1"/>
                </a:solidFill>
                <a:effectLst/>
                <a:latin typeface="Aptos" panose="020B0004020202020204" pitchFamily="34" charset="0"/>
              </a:rPr>
              <a:t> </a:t>
            </a:r>
          </a:p>
          <a:p>
            <a:pPr marL="285750" indent="-285750" algn="l" rtl="0" fontAlgn="base">
              <a:buFont typeface="Courier New" panose="02070309020205020404" pitchFamily="49" charset="0"/>
              <a:buChar char="o"/>
            </a:pPr>
            <a:r>
              <a:rPr lang="en-US" sz="2000" b="0" i="0" dirty="0" err="1">
                <a:solidFill>
                  <a:schemeClr val="tx1"/>
                </a:solidFill>
                <a:effectLst/>
                <a:latin typeface="Aptos" panose="020B0004020202020204" pitchFamily="34" charset="0"/>
              </a:rPr>
              <a:t>Waste_Recycling</a:t>
            </a:r>
            <a:r>
              <a:rPr lang="en-US" sz="2000" b="0" i="0" dirty="0">
                <a:solidFill>
                  <a:schemeClr val="tx1"/>
                </a:solidFill>
                <a:effectLst/>
                <a:latin typeface="Aptos" panose="020B0004020202020204" pitchFamily="34" charset="0"/>
              </a:rPr>
              <a:t> </a:t>
            </a:r>
          </a:p>
          <a:p>
            <a:pPr marL="285750" indent="-285750" algn="l" rtl="0" fontAlgn="base">
              <a:buFont typeface="Courier New" panose="02070309020205020404" pitchFamily="49" charset="0"/>
              <a:buChar char="o"/>
            </a:pPr>
            <a:r>
              <a:rPr lang="en-US" sz="2000" b="0" i="0" dirty="0" err="1">
                <a:solidFill>
                  <a:schemeClr val="tx1"/>
                </a:solidFill>
                <a:effectLst/>
                <a:latin typeface="Aptos" panose="020B0004020202020204" pitchFamily="34" charset="0"/>
              </a:rPr>
              <a:t>High_Emissions</a:t>
            </a:r>
            <a:r>
              <a:rPr lang="en-US" sz="2000" b="0" i="0" dirty="0">
                <a:solidFill>
                  <a:schemeClr val="tx1"/>
                </a:solidFill>
                <a:effectLst/>
                <a:latin typeface="Aptos" panose="020B0004020202020204" pitchFamily="34" charset="0"/>
              </a:rPr>
              <a:t> </a:t>
            </a:r>
          </a:p>
          <a:p>
            <a:endParaRPr lang="en-PK" dirty="0">
              <a:solidFill>
                <a:schemeClr val="tx1"/>
              </a:solidFill>
            </a:endParaRPr>
          </a:p>
        </p:txBody>
      </p:sp>
      <p:sp>
        <p:nvSpPr>
          <p:cNvPr id="8" name="Rectangle 7">
            <a:extLst>
              <a:ext uri="{FF2B5EF4-FFF2-40B4-BE49-F238E27FC236}">
                <a16:creationId xmlns:a16="http://schemas.microsoft.com/office/drawing/2014/main" id="{F6B0158C-FD7E-FB3D-C8BA-437566D71E03}"/>
              </a:ext>
            </a:extLst>
          </p:cNvPr>
          <p:cNvSpPr/>
          <p:nvPr/>
        </p:nvSpPr>
        <p:spPr>
          <a:xfrm>
            <a:off x="6607479" y="3620022"/>
            <a:ext cx="4174252" cy="2812094"/>
          </a:xfrm>
          <a:prstGeom prst="rect">
            <a:avLst/>
          </a:prstGeom>
          <a:gradFill flip="none" rotWithShape="1">
            <a:gsLst>
              <a:gs pos="0">
                <a:srgbClr val="517141">
                  <a:shade val="30000"/>
                  <a:satMod val="115000"/>
                </a:srgbClr>
              </a:gs>
              <a:gs pos="50000">
                <a:srgbClr val="517141">
                  <a:shade val="67500"/>
                  <a:satMod val="115000"/>
                </a:srgbClr>
              </a:gs>
              <a:gs pos="100000">
                <a:srgbClr val="517141">
                  <a:shade val="100000"/>
                  <a:satMod val="115000"/>
                </a:srgbClr>
              </a:gs>
            </a:gsLst>
            <a:lin ang="189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gn="l" rtl="0" fontAlgn="base">
              <a:buFont typeface="Courier New" panose="02070309020205020404" pitchFamily="49" charset="0"/>
              <a:buChar char="o"/>
            </a:pPr>
            <a:r>
              <a:rPr lang="en-US" sz="2000" b="0" i="0" dirty="0" err="1">
                <a:solidFill>
                  <a:schemeClr val="tx1"/>
                </a:solidFill>
                <a:effectLst/>
                <a:latin typeface="Aptos" panose="020B0004020202020204" pitchFamily="34" charset="0"/>
              </a:rPr>
              <a:t>Household_Size</a:t>
            </a:r>
            <a:r>
              <a:rPr lang="en-US" sz="2000" b="0" i="0" dirty="0">
                <a:solidFill>
                  <a:schemeClr val="tx1"/>
                </a:solidFill>
                <a:effectLst/>
                <a:latin typeface="Aptos" panose="020B0004020202020204" pitchFamily="34" charset="0"/>
              </a:rPr>
              <a:t> </a:t>
            </a:r>
          </a:p>
          <a:p>
            <a:pPr marL="285750" indent="-285750" algn="l" rtl="0" fontAlgn="base">
              <a:buFont typeface="Courier New" panose="02070309020205020404" pitchFamily="49" charset="0"/>
              <a:buChar char="o"/>
            </a:pPr>
            <a:r>
              <a:rPr lang="en-US" sz="2000" b="0" i="0" dirty="0" err="1">
                <a:solidFill>
                  <a:schemeClr val="tx1"/>
                </a:solidFill>
                <a:effectLst/>
                <a:latin typeface="Aptos" panose="020B0004020202020204" pitchFamily="34" charset="0"/>
              </a:rPr>
              <a:t>Electricity_Usage</a:t>
            </a:r>
            <a:r>
              <a:rPr lang="en-US" sz="2000" b="0" i="0" dirty="0">
                <a:solidFill>
                  <a:schemeClr val="tx1"/>
                </a:solidFill>
                <a:effectLst/>
                <a:latin typeface="Aptos" panose="020B0004020202020204" pitchFamily="34" charset="0"/>
              </a:rPr>
              <a:t> </a:t>
            </a:r>
          </a:p>
          <a:p>
            <a:pPr marL="285750" indent="-285750" algn="l" rtl="0" fontAlgn="base">
              <a:buFont typeface="Courier New" panose="02070309020205020404" pitchFamily="49" charset="0"/>
              <a:buChar char="o"/>
            </a:pPr>
            <a:r>
              <a:rPr lang="en-US" sz="2000" b="0" i="0" dirty="0" err="1">
                <a:solidFill>
                  <a:schemeClr val="tx1"/>
                </a:solidFill>
                <a:effectLst/>
                <a:latin typeface="Aptos" panose="020B0004020202020204" pitchFamily="34" charset="0"/>
              </a:rPr>
              <a:t>Gas_Usage</a:t>
            </a:r>
            <a:r>
              <a:rPr lang="en-US" sz="2000" b="0" i="0" dirty="0">
                <a:solidFill>
                  <a:schemeClr val="tx1"/>
                </a:solidFill>
                <a:effectLst/>
                <a:latin typeface="Aptos" panose="020B0004020202020204" pitchFamily="34" charset="0"/>
              </a:rPr>
              <a:t> </a:t>
            </a:r>
          </a:p>
          <a:p>
            <a:pPr marL="285750" indent="-285750" algn="l" rtl="0" fontAlgn="base">
              <a:buFont typeface="Courier New" panose="02070309020205020404" pitchFamily="49" charset="0"/>
              <a:buChar char="o"/>
            </a:pPr>
            <a:r>
              <a:rPr lang="en-US" sz="2000" b="0" i="0" dirty="0" err="1">
                <a:solidFill>
                  <a:schemeClr val="tx1"/>
                </a:solidFill>
                <a:effectLst/>
                <a:latin typeface="Aptos" panose="020B0004020202020204" pitchFamily="34" charset="0"/>
              </a:rPr>
              <a:t>Plastic_Consumption</a:t>
            </a:r>
            <a:r>
              <a:rPr lang="en-US" sz="2000" b="0" i="0" dirty="0">
                <a:solidFill>
                  <a:schemeClr val="tx1"/>
                </a:solidFill>
                <a:effectLst/>
                <a:latin typeface="Aptos" panose="020B0004020202020204" pitchFamily="34" charset="0"/>
              </a:rPr>
              <a:t> </a:t>
            </a:r>
          </a:p>
          <a:p>
            <a:pPr marL="285750" indent="-285750" algn="l" rtl="0" fontAlgn="base">
              <a:buFont typeface="Courier New" panose="02070309020205020404" pitchFamily="49" charset="0"/>
              <a:buChar char="o"/>
            </a:pPr>
            <a:r>
              <a:rPr lang="en-US" sz="2000" b="0" i="0" dirty="0" err="1">
                <a:solidFill>
                  <a:schemeClr val="tx1"/>
                </a:solidFill>
                <a:effectLst/>
                <a:latin typeface="Aptos" panose="020B0004020202020204" pitchFamily="34" charset="0"/>
              </a:rPr>
              <a:t>Public_Transport_Usage</a:t>
            </a:r>
            <a:r>
              <a:rPr lang="en-US" sz="2000" b="0" i="0" dirty="0">
                <a:solidFill>
                  <a:schemeClr val="tx1"/>
                </a:solidFill>
                <a:effectLst/>
                <a:latin typeface="Aptos" panose="020B0004020202020204" pitchFamily="34" charset="0"/>
              </a:rPr>
              <a:t> </a:t>
            </a:r>
          </a:p>
          <a:p>
            <a:pPr marL="285750" indent="-285750" algn="l" rtl="0" fontAlgn="base">
              <a:buFont typeface="Courier New" panose="02070309020205020404" pitchFamily="49" charset="0"/>
              <a:buChar char="o"/>
            </a:pPr>
            <a:r>
              <a:rPr lang="en-US" sz="2000" b="0" i="0" dirty="0" err="1">
                <a:solidFill>
                  <a:schemeClr val="tx1"/>
                </a:solidFill>
                <a:effectLst/>
                <a:latin typeface="Aptos" panose="020B0004020202020204" pitchFamily="34" charset="0"/>
              </a:rPr>
              <a:t>Distance_to_Work</a:t>
            </a:r>
            <a:r>
              <a:rPr lang="en-US" sz="2000" b="0" i="0" dirty="0">
                <a:solidFill>
                  <a:schemeClr val="tx1"/>
                </a:solidFill>
                <a:effectLst/>
                <a:latin typeface="Aptos" panose="020B0004020202020204" pitchFamily="34" charset="0"/>
              </a:rPr>
              <a:t> </a:t>
            </a:r>
          </a:p>
          <a:p>
            <a:pPr marL="285750" indent="-285750" fontAlgn="base">
              <a:buFont typeface="Courier New" panose="02070309020205020404" pitchFamily="49" charset="0"/>
              <a:buChar char="o"/>
            </a:pPr>
            <a:r>
              <a:rPr lang="en-US" sz="2000" b="0" i="0" dirty="0" err="1">
                <a:solidFill>
                  <a:schemeClr val="tx1"/>
                </a:solidFill>
                <a:effectLst/>
                <a:latin typeface="Aptos" panose="020B0004020202020204" pitchFamily="34" charset="0"/>
              </a:rPr>
              <a:t>Carbon_Footprint</a:t>
            </a:r>
            <a:r>
              <a:rPr lang="en-US" sz="2000" b="0" i="0" dirty="0">
                <a:solidFill>
                  <a:schemeClr val="tx1"/>
                </a:solidFill>
                <a:effectLst/>
                <a:latin typeface="Aptos" panose="020B0004020202020204" pitchFamily="34" charset="0"/>
              </a:rPr>
              <a:t> </a:t>
            </a:r>
          </a:p>
          <a:p>
            <a:pPr marL="285750" indent="-285750" fontAlgn="base">
              <a:buFont typeface="Courier New" panose="02070309020205020404" pitchFamily="49" charset="0"/>
              <a:buChar char="o"/>
            </a:pPr>
            <a:r>
              <a:rPr lang="en-US" sz="2000" b="0" i="0" dirty="0" err="1">
                <a:solidFill>
                  <a:schemeClr val="tx1"/>
                </a:solidFill>
                <a:effectLst/>
                <a:latin typeface="Aptos" panose="020B0004020202020204" pitchFamily="34" charset="0"/>
              </a:rPr>
              <a:t>Environmental_Awareness</a:t>
            </a:r>
            <a:r>
              <a:rPr lang="en-US" sz="2000" dirty="0" err="1">
                <a:solidFill>
                  <a:schemeClr val="tx1"/>
                </a:solidFill>
                <a:latin typeface="Aptos" panose="020B0004020202020204" pitchFamily="34" charset="0"/>
              </a:rPr>
              <a:t>_</a:t>
            </a:r>
            <a:r>
              <a:rPr lang="en-US" sz="2000" b="0" i="0" dirty="0" err="1">
                <a:solidFill>
                  <a:schemeClr val="tx1"/>
                </a:solidFill>
                <a:effectLst/>
                <a:latin typeface="Aptos" panose="020B0004020202020204" pitchFamily="34" charset="0"/>
              </a:rPr>
              <a:t>Score</a:t>
            </a:r>
            <a:endParaRPr lang="en-US" sz="2000" b="0" i="0" dirty="0">
              <a:solidFill>
                <a:schemeClr val="tx1"/>
              </a:solidFill>
              <a:effectLst/>
              <a:latin typeface="Aptos" panose="020B0004020202020204" pitchFamily="34" charset="0"/>
            </a:endParaRPr>
          </a:p>
          <a:p>
            <a:pPr marL="285750" indent="-285750" algn="l" rtl="0" fontAlgn="base">
              <a:buFont typeface="Courier New" panose="02070309020205020404" pitchFamily="49" charset="0"/>
              <a:buChar char="o"/>
            </a:pPr>
            <a:endParaRPr lang="en-US" sz="1800" b="0" i="0" dirty="0">
              <a:solidFill>
                <a:schemeClr val="tx1"/>
              </a:solidFill>
              <a:effectLst/>
              <a:latin typeface="Aptos" panose="020B0004020202020204" pitchFamily="34" charset="0"/>
            </a:endParaRPr>
          </a:p>
          <a:p>
            <a:endParaRPr lang="en-PK" dirty="0">
              <a:solidFill>
                <a:schemeClr val="tx1"/>
              </a:solidFill>
            </a:endParaRPr>
          </a:p>
        </p:txBody>
      </p:sp>
    </p:spTree>
    <p:extLst>
      <p:ext uri="{BB962C8B-B14F-4D97-AF65-F5344CB8AC3E}">
        <p14:creationId xmlns:p14="http://schemas.microsoft.com/office/powerpoint/2010/main" val="1188071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C765D2-45AF-971C-B597-B708587E45C2}"/>
              </a:ext>
            </a:extLst>
          </p:cNvPr>
          <p:cNvSpPr/>
          <p:nvPr/>
        </p:nvSpPr>
        <p:spPr>
          <a:xfrm>
            <a:off x="1185797" y="425885"/>
            <a:ext cx="9820405" cy="851770"/>
          </a:xfrm>
          <a:prstGeom prst="rect">
            <a:avLst/>
          </a:prstGeom>
          <a:gradFill flip="none" rotWithShape="1">
            <a:gsLst>
              <a:gs pos="0">
                <a:srgbClr val="335F20">
                  <a:shade val="30000"/>
                  <a:satMod val="115000"/>
                </a:srgbClr>
              </a:gs>
              <a:gs pos="50000">
                <a:srgbClr val="335F20">
                  <a:shade val="67500"/>
                  <a:satMod val="115000"/>
                </a:srgbClr>
              </a:gs>
              <a:gs pos="100000">
                <a:srgbClr val="335F20">
                  <a:shade val="100000"/>
                  <a:satMod val="115000"/>
                </a:srgbClr>
              </a:gs>
            </a:gsLst>
            <a:path path="circle">
              <a:fillToRect l="100000" b="100000"/>
            </a:path>
            <a:tileRect t="-100000" r="-100000"/>
          </a:gra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effectLst/>
                <a:latin typeface="Aptos" panose="020B0004020202020204" pitchFamily="34" charset="0"/>
              </a:rPr>
              <a:t>Descriptive Statistics Results – Variables having Normal Distribution but slightly Skewed </a:t>
            </a:r>
            <a:r>
              <a:rPr lang="en-US" sz="2400" dirty="0">
                <a:latin typeface="Aptos" panose="020B0004020202020204" pitchFamily="34" charset="0"/>
              </a:rPr>
              <a:t>R</a:t>
            </a:r>
            <a:r>
              <a:rPr lang="en-US" sz="2400" dirty="0">
                <a:effectLst/>
                <a:latin typeface="Aptos" panose="020B0004020202020204" pitchFamily="34" charset="0"/>
              </a:rPr>
              <a:t>ight</a:t>
            </a:r>
            <a:endParaRPr lang="en-PK" sz="2400" dirty="0">
              <a:latin typeface="Aptos" panose="020B0004020202020204" pitchFamily="34" charset="0"/>
            </a:endParaRPr>
          </a:p>
        </p:txBody>
      </p:sp>
      <p:pic>
        <p:nvPicPr>
          <p:cNvPr id="4" name="Picture 3">
            <a:extLst>
              <a:ext uri="{FF2B5EF4-FFF2-40B4-BE49-F238E27FC236}">
                <a16:creationId xmlns:a16="http://schemas.microsoft.com/office/drawing/2014/main" id="{E71E510B-2DD5-5DF8-9128-0BC245FA75ED}"/>
              </a:ext>
            </a:extLst>
          </p:cNvPr>
          <p:cNvPicPr>
            <a:picLocks noChangeAspect="1"/>
          </p:cNvPicPr>
          <p:nvPr/>
        </p:nvPicPr>
        <p:blipFill>
          <a:blip r:embed="rId2"/>
          <a:stretch>
            <a:fillRect/>
          </a:stretch>
        </p:blipFill>
        <p:spPr>
          <a:xfrm>
            <a:off x="1761320" y="1453456"/>
            <a:ext cx="3778799" cy="2381708"/>
          </a:xfrm>
          <a:prstGeom prst="rect">
            <a:avLst/>
          </a:prstGeom>
        </p:spPr>
      </p:pic>
      <p:sp>
        <p:nvSpPr>
          <p:cNvPr id="3" name="TextBox 2">
            <a:extLst>
              <a:ext uri="{FF2B5EF4-FFF2-40B4-BE49-F238E27FC236}">
                <a16:creationId xmlns:a16="http://schemas.microsoft.com/office/drawing/2014/main" id="{38CAA871-C5E2-9B05-984D-C8FBED8052DE}"/>
              </a:ext>
            </a:extLst>
          </p:cNvPr>
          <p:cNvSpPr txBox="1"/>
          <p:nvPr/>
        </p:nvSpPr>
        <p:spPr>
          <a:xfrm rot="16200000">
            <a:off x="513791" y="2432415"/>
            <a:ext cx="1957537" cy="369332"/>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wrap="square" rtlCol="0">
            <a:spAutoFit/>
          </a:bodyPr>
          <a:lstStyle/>
          <a:p>
            <a:r>
              <a:rPr lang="en-PK" dirty="0"/>
              <a:t>Electricity Usage</a:t>
            </a:r>
          </a:p>
        </p:txBody>
      </p:sp>
      <p:sp>
        <p:nvSpPr>
          <p:cNvPr id="5" name="TextBox 4">
            <a:extLst>
              <a:ext uri="{FF2B5EF4-FFF2-40B4-BE49-F238E27FC236}">
                <a16:creationId xmlns:a16="http://schemas.microsoft.com/office/drawing/2014/main" id="{99742EB9-6055-BDE7-1240-A0BCCBFC00B8}"/>
              </a:ext>
            </a:extLst>
          </p:cNvPr>
          <p:cNvSpPr txBox="1"/>
          <p:nvPr/>
        </p:nvSpPr>
        <p:spPr>
          <a:xfrm rot="16200000">
            <a:off x="712870" y="4835943"/>
            <a:ext cx="1559380" cy="369332"/>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txBody>
          <a:bodyPr wrap="square" rtlCol="0">
            <a:spAutoFit/>
          </a:bodyPr>
          <a:lstStyle/>
          <a:p>
            <a:r>
              <a:rPr lang="en-PK" dirty="0"/>
              <a:t>Gas Usage</a:t>
            </a:r>
          </a:p>
        </p:txBody>
      </p:sp>
      <p:pic>
        <p:nvPicPr>
          <p:cNvPr id="9218" name="Picture 2">
            <a:extLst>
              <a:ext uri="{FF2B5EF4-FFF2-40B4-BE49-F238E27FC236}">
                <a16:creationId xmlns:a16="http://schemas.microsoft.com/office/drawing/2014/main" id="{7DDAA000-7B2F-7A11-2B4A-2B6203909E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2769" y="1398999"/>
            <a:ext cx="3937911" cy="243616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E46DC2F-B005-CB6D-68F7-3E91BC88828F}"/>
              </a:ext>
            </a:extLst>
          </p:cNvPr>
          <p:cNvSpPr txBox="1"/>
          <p:nvPr/>
        </p:nvSpPr>
        <p:spPr>
          <a:xfrm rot="5400000">
            <a:off x="9709097" y="2432415"/>
            <a:ext cx="1957537" cy="369332"/>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100000" t="100000"/>
            </a:path>
            <a:tileRect r="-100000" b="-100000"/>
          </a:gradFill>
        </p:spPr>
        <p:txBody>
          <a:bodyPr wrap="square" rtlCol="0">
            <a:spAutoFit/>
          </a:bodyPr>
          <a:lstStyle/>
          <a:p>
            <a:r>
              <a:rPr lang="en-PK" dirty="0"/>
              <a:t>Household Size</a:t>
            </a:r>
          </a:p>
        </p:txBody>
      </p:sp>
      <p:pic>
        <p:nvPicPr>
          <p:cNvPr id="9220" name="Picture 4">
            <a:extLst>
              <a:ext uri="{FF2B5EF4-FFF2-40B4-BE49-F238E27FC236}">
                <a16:creationId xmlns:a16="http://schemas.microsoft.com/office/drawing/2014/main" id="{652176C3-73E5-94E6-85E3-44FD09C3A3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1320" y="4010965"/>
            <a:ext cx="3778799" cy="2481135"/>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a:extLst>
              <a:ext uri="{FF2B5EF4-FFF2-40B4-BE49-F238E27FC236}">
                <a16:creationId xmlns:a16="http://schemas.microsoft.com/office/drawing/2014/main" id="{5E2393F3-E1B6-74A8-620A-FD6CB6B7D5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92769" y="4010965"/>
            <a:ext cx="3937911" cy="245240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3E91009-6C7D-816E-23DD-B7AD10B23AEE}"/>
              </a:ext>
            </a:extLst>
          </p:cNvPr>
          <p:cNvSpPr txBox="1"/>
          <p:nvPr/>
        </p:nvSpPr>
        <p:spPr>
          <a:xfrm rot="5400000">
            <a:off x="9715442" y="5035022"/>
            <a:ext cx="1957537" cy="369332"/>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p:spPr>
        <p:txBody>
          <a:bodyPr wrap="square" rtlCol="0">
            <a:spAutoFit/>
          </a:bodyPr>
          <a:lstStyle/>
          <a:p>
            <a:r>
              <a:rPr lang="en-PK" dirty="0"/>
              <a:t>Public Transport </a:t>
            </a:r>
          </a:p>
        </p:txBody>
      </p:sp>
      <p:sp>
        <p:nvSpPr>
          <p:cNvPr id="8" name="TextBox 7">
            <a:extLst>
              <a:ext uri="{FF2B5EF4-FFF2-40B4-BE49-F238E27FC236}">
                <a16:creationId xmlns:a16="http://schemas.microsoft.com/office/drawing/2014/main" id="{9C9E9880-09EC-F1E9-A662-231442E7F541}"/>
              </a:ext>
            </a:extLst>
          </p:cNvPr>
          <p:cNvSpPr txBox="1"/>
          <p:nvPr/>
        </p:nvSpPr>
        <p:spPr>
          <a:xfrm>
            <a:off x="7383551" y="6459411"/>
            <a:ext cx="2156346" cy="369332"/>
          </a:xfrm>
          <a:prstGeom prst="rect">
            <a:avLst/>
          </a:prstGeom>
          <a:noFill/>
          <a:ln>
            <a:solidFill>
              <a:schemeClr val="tx1"/>
            </a:solidFill>
          </a:ln>
        </p:spPr>
        <p:txBody>
          <a:bodyPr wrap="square" rtlCol="0">
            <a:spAutoFit/>
          </a:bodyPr>
          <a:lstStyle/>
          <a:p>
            <a:r>
              <a:rPr lang="en-PK" dirty="0"/>
              <a:t>Slightly </a:t>
            </a:r>
            <a:r>
              <a:rPr lang="en-PK" sz="1600" dirty="0"/>
              <a:t>skewed</a:t>
            </a:r>
            <a:r>
              <a:rPr lang="en-PK" dirty="0"/>
              <a:t> left</a:t>
            </a:r>
          </a:p>
        </p:txBody>
      </p:sp>
      <p:sp>
        <p:nvSpPr>
          <p:cNvPr id="10" name="TextBox 9">
            <a:extLst>
              <a:ext uri="{FF2B5EF4-FFF2-40B4-BE49-F238E27FC236}">
                <a16:creationId xmlns:a16="http://schemas.microsoft.com/office/drawing/2014/main" id="{B1D3D537-E4D2-FFF0-7C24-BD449A4529F1}"/>
              </a:ext>
            </a:extLst>
          </p:cNvPr>
          <p:cNvSpPr txBox="1"/>
          <p:nvPr/>
        </p:nvSpPr>
        <p:spPr>
          <a:xfrm>
            <a:off x="4299045" y="1638312"/>
            <a:ext cx="1205608" cy="646331"/>
          </a:xfrm>
          <a:prstGeom prst="rect">
            <a:avLst/>
          </a:prstGeom>
          <a:noFill/>
        </p:spPr>
        <p:txBody>
          <a:bodyPr wrap="square" rtlCol="0">
            <a:spAutoFit/>
          </a:bodyPr>
          <a:lstStyle/>
          <a:p>
            <a:r>
              <a:rPr lang="en-PK" sz="1200" dirty="0">
                <a:solidFill>
                  <a:schemeClr val="bg1"/>
                </a:solidFill>
              </a:rPr>
              <a:t>Mean – 396 </a:t>
            </a:r>
            <a:br>
              <a:rPr lang="en-PK" sz="1200" dirty="0">
                <a:solidFill>
                  <a:schemeClr val="bg1"/>
                </a:solidFill>
              </a:rPr>
            </a:br>
            <a:r>
              <a:rPr lang="en-PK" sz="1200" dirty="0">
                <a:solidFill>
                  <a:schemeClr val="bg1"/>
                </a:solidFill>
              </a:rPr>
              <a:t>Median – 370</a:t>
            </a:r>
            <a:br>
              <a:rPr lang="en-PK" sz="1200" dirty="0">
                <a:solidFill>
                  <a:schemeClr val="bg1"/>
                </a:solidFill>
              </a:rPr>
            </a:br>
            <a:r>
              <a:rPr lang="en-PK" sz="1200" dirty="0">
                <a:solidFill>
                  <a:schemeClr val="bg1"/>
                </a:solidFill>
              </a:rPr>
              <a:t>SD - 179</a:t>
            </a:r>
          </a:p>
        </p:txBody>
      </p:sp>
      <p:sp>
        <p:nvSpPr>
          <p:cNvPr id="11" name="TextBox 10">
            <a:extLst>
              <a:ext uri="{FF2B5EF4-FFF2-40B4-BE49-F238E27FC236}">
                <a16:creationId xmlns:a16="http://schemas.microsoft.com/office/drawing/2014/main" id="{FCCC4FBC-F89C-ACDE-2563-2BB4E2AB5387}"/>
              </a:ext>
            </a:extLst>
          </p:cNvPr>
          <p:cNvSpPr txBox="1"/>
          <p:nvPr/>
        </p:nvSpPr>
        <p:spPr>
          <a:xfrm>
            <a:off x="9064388" y="1859041"/>
            <a:ext cx="1205608" cy="646331"/>
          </a:xfrm>
          <a:prstGeom prst="rect">
            <a:avLst/>
          </a:prstGeom>
          <a:noFill/>
        </p:spPr>
        <p:txBody>
          <a:bodyPr wrap="square" rtlCol="0">
            <a:spAutoFit/>
          </a:bodyPr>
          <a:lstStyle/>
          <a:p>
            <a:r>
              <a:rPr lang="en-PK" sz="1200" dirty="0">
                <a:solidFill>
                  <a:schemeClr val="bg1"/>
                </a:solidFill>
              </a:rPr>
              <a:t>Mean – 3.9</a:t>
            </a:r>
            <a:br>
              <a:rPr lang="en-PK" sz="1200" dirty="0">
                <a:solidFill>
                  <a:schemeClr val="bg1"/>
                </a:solidFill>
              </a:rPr>
            </a:br>
            <a:r>
              <a:rPr lang="en-PK" sz="1200" dirty="0">
                <a:solidFill>
                  <a:schemeClr val="bg1"/>
                </a:solidFill>
              </a:rPr>
              <a:t>Median 4</a:t>
            </a:r>
            <a:br>
              <a:rPr lang="en-PK" sz="1200" dirty="0">
                <a:solidFill>
                  <a:schemeClr val="bg1"/>
                </a:solidFill>
              </a:rPr>
            </a:br>
            <a:r>
              <a:rPr lang="en-PK" sz="1200" dirty="0">
                <a:solidFill>
                  <a:schemeClr val="bg1"/>
                </a:solidFill>
              </a:rPr>
              <a:t>SD – 1.6</a:t>
            </a:r>
            <a:endParaRPr lang="en-PK" sz="2000" dirty="0">
              <a:solidFill>
                <a:schemeClr val="bg1"/>
              </a:solidFill>
            </a:endParaRPr>
          </a:p>
        </p:txBody>
      </p:sp>
      <p:sp>
        <p:nvSpPr>
          <p:cNvPr id="12" name="TextBox 11">
            <a:extLst>
              <a:ext uri="{FF2B5EF4-FFF2-40B4-BE49-F238E27FC236}">
                <a16:creationId xmlns:a16="http://schemas.microsoft.com/office/drawing/2014/main" id="{1C1C6380-691C-B8B6-5E98-6EDE0119EA04}"/>
              </a:ext>
            </a:extLst>
          </p:cNvPr>
          <p:cNvSpPr txBox="1"/>
          <p:nvPr/>
        </p:nvSpPr>
        <p:spPr>
          <a:xfrm>
            <a:off x="4208032" y="4265631"/>
            <a:ext cx="1205608" cy="646331"/>
          </a:xfrm>
          <a:prstGeom prst="rect">
            <a:avLst/>
          </a:prstGeom>
          <a:noFill/>
        </p:spPr>
        <p:txBody>
          <a:bodyPr wrap="square" rtlCol="0">
            <a:spAutoFit/>
          </a:bodyPr>
          <a:lstStyle/>
          <a:p>
            <a:r>
              <a:rPr lang="en-PK" sz="1200" dirty="0">
                <a:solidFill>
                  <a:schemeClr val="bg1"/>
                </a:solidFill>
              </a:rPr>
              <a:t>Mean – 18.8</a:t>
            </a:r>
            <a:br>
              <a:rPr lang="en-PK" sz="1200" dirty="0">
                <a:solidFill>
                  <a:schemeClr val="bg1"/>
                </a:solidFill>
              </a:rPr>
            </a:br>
            <a:r>
              <a:rPr lang="en-PK" sz="1200" dirty="0">
                <a:solidFill>
                  <a:schemeClr val="bg1"/>
                </a:solidFill>
              </a:rPr>
              <a:t>Median – 17.6</a:t>
            </a:r>
            <a:br>
              <a:rPr lang="en-PK" sz="1200" dirty="0">
                <a:solidFill>
                  <a:schemeClr val="bg1"/>
                </a:solidFill>
              </a:rPr>
            </a:br>
            <a:r>
              <a:rPr lang="en-PK" sz="1200" dirty="0">
                <a:solidFill>
                  <a:schemeClr val="bg1"/>
                </a:solidFill>
              </a:rPr>
              <a:t>SD – 8.6</a:t>
            </a:r>
            <a:endParaRPr lang="en-PK" sz="2000" dirty="0">
              <a:solidFill>
                <a:schemeClr val="bg1"/>
              </a:solidFill>
            </a:endParaRPr>
          </a:p>
        </p:txBody>
      </p:sp>
      <p:sp>
        <p:nvSpPr>
          <p:cNvPr id="13" name="TextBox 12">
            <a:extLst>
              <a:ext uri="{FF2B5EF4-FFF2-40B4-BE49-F238E27FC236}">
                <a16:creationId xmlns:a16="http://schemas.microsoft.com/office/drawing/2014/main" id="{5846F552-9729-B1D7-0294-FC7069D9FEB2}"/>
              </a:ext>
            </a:extLst>
          </p:cNvPr>
          <p:cNvSpPr txBox="1"/>
          <p:nvPr/>
        </p:nvSpPr>
        <p:spPr>
          <a:xfrm>
            <a:off x="9225072" y="4307487"/>
            <a:ext cx="1205608" cy="646331"/>
          </a:xfrm>
          <a:prstGeom prst="rect">
            <a:avLst/>
          </a:prstGeom>
          <a:noFill/>
        </p:spPr>
        <p:txBody>
          <a:bodyPr wrap="square" rtlCol="0">
            <a:spAutoFit/>
          </a:bodyPr>
          <a:lstStyle/>
          <a:p>
            <a:r>
              <a:rPr lang="en-PK" sz="1200" dirty="0">
                <a:solidFill>
                  <a:schemeClr val="bg1"/>
                </a:solidFill>
              </a:rPr>
              <a:t>Mean – 6.8</a:t>
            </a:r>
            <a:br>
              <a:rPr lang="en-PK" sz="1200" dirty="0">
                <a:solidFill>
                  <a:schemeClr val="bg1"/>
                </a:solidFill>
              </a:rPr>
            </a:br>
            <a:r>
              <a:rPr lang="en-PK" sz="1200" dirty="0">
                <a:solidFill>
                  <a:schemeClr val="bg1"/>
                </a:solidFill>
              </a:rPr>
              <a:t>Median – 6.9</a:t>
            </a:r>
            <a:br>
              <a:rPr lang="en-PK" sz="1200" dirty="0">
                <a:solidFill>
                  <a:schemeClr val="bg1"/>
                </a:solidFill>
              </a:rPr>
            </a:br>
            <a:r>
              <a:rPr lang="en-PK" sz="1200" dirty="0">
                <a:solidFill>
                  <a:schemeClr val="bg1"/>
                </a:solidFill>
              </a:rPr>
              <a:t>SD – 1.28</a:t>
            </a:r>
            <a:endParaRPr lang="en-PK" sz="2000" dirty="0">
              <a:solidFill>
                <a:schemeClr val="bg1"/>
              </a:solidFill>
            </a:endParaRPr>
          </a:p>
        </p:txBody>
      </p:sp>
    </p:spTree>
    <p:extLst>
      <p:ext uri="{BB962C8B-B14F-4D97-AF65-F5344CB8AC3E}">
        <p14:creationId xmlns:p14="http://schemas.microsoft.com/office/powerpoint/2010/main" val="3519894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C765D2-45AF-971C-B597-B708587E45C2}"/>
              </a:ext>
            </a:extLst>
          </p:cNvPr>
          <p:cNvSpPr/>
          <p:nvPr/>
        </p:nvSpPr>
        <p:spPr>
          <a:xfrm>
            <a:off x="1185797" y="425885"/>
            <a:ext cx="9820405" cy="851770"/>
          </a:xfrm>
          <a:prstGeom prst="rect">
            <a:avLst/>
          </a:prstGeom>
          <a:gradFill flip="none" rotWithShape="1">
            <a:gsLst>
              <a:gs pos="0">
                <a:srgbClr val="335F20">
                  <a:shade val="30000"/>
                  <a:satMod val="115000"/>
                </a:srgbClr>
              </a:gs>
              <a:gs pos="50000">
                <a:srgbClr val="335F20">
                  <a:shade val="67500"/>
                  <a:satMod val="115000"/>
                </a:srgbClr>
              </a:gs>
              <a:gs pos="100000">
                <a:srgbClr val="335F20">
                  <a:shade val="100000"/>
                  <a:satMod val="115000"/>
                </a:srgbClr>
              </a:gs>
            </a:gsLst>
            <a:path path="circle">
              <a:fillToRect l="100000" b="100000"/>
            </a:path>
            <a:tileRect t="-100000" r="-100000"/>
          </a:gra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effectLst/>
                <a:latin typeface="Aptos" panose="020B0004020202020204" pitchFamily="34" charset="0"/>
              </a:rPr>
              <a:t>Descriptive Statistics Results – Variables having Normal Distribution but </a:t>
            </a:r>
            <a:r>
              <a:rPr lang="en-US" sz="2400" dirty="0">
                <a:latin typeface="Aptos" panose="020B0004020202020204" pitchFamily="34" charset="0"/>
              </a:rPr>
              <a:t>Heavily</a:t>
            </a:r>
            <a:r>
              <a:rPr lang="en-US" sz="2400" dirty="0">
                <a:effectLst/>
                <a:latin typeface="Aptos" panose="020B0004020202020204" pitchFamily="34" charset="0"/>
              </a:rPr>
              <a:t> Skewed </a:t>
            </a:r>
            <a:r>
              <a:rPr lang="en-US" sz="2400" dirty="0">
                <a:latin typeface="Aptos" panose="020B0004020202020204" pitchFamily="34" charset="0"/>
              </a:rPr>
              <a:t>R</a:t>
            </a:r>
            <a:r>
              <a:rPr lang="en-US" sz="2400" dirty="0">
                <a:effectLst/>
                <a:latin typeface="Aptos" panose="020B0004020202020204" pitchFamily="34" charset="0"/>
              </a:rPr>
              <a:t>ight + Does not comply with Normality, checked via Q-Q</a:t>
            </a:r>
            <a:endParaRPr lang="en-PK" sz="2400" dirty="0">
              <a:latin typeface="Aptos" panose="020B0004020202020204" pitchFamily="34" charset="0"/>
            </a:endParaRPr>
          </a:p>
        </p:txBody>
      </p:sp>
      <p:sp>
        <p:nvSpPr>
          <p:cNvPr id="3" name="TextBox 2">
            <a:extLst>
              <a:ext uri="{FF2B5EF4-FFF2-40B4-BE49-F238E27FC236}">
                <a16:creationId xmlns:a16="http://schemas.microsoft.com/office/drawing/2014/main" id="{38CAA871-C5E2-9B05-984D-C8FBED8052DE}"/>
              </a:ext>
            </a:extLst>
          </p:cNvPr>
          <p:cNvSpPr txBox="1"/>
          <p:nvPr/>
        </p:nvSpPr>
        <p:spPr>
          <a:xfrm rot="16200000">
            <a:off x="158776" y="2492474"/>
            <a:ext cx="2512088" cy="369332"/>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p:spPr>
        <p:txBody>
          <a:bodyPr wrap="square" rtlCol="0">
            <a:spAutoFit/>
          </a:bodyPr>
          <a:lstStyle/>
          <a:p>
            <a:r>
              <a:rPr lang="en-GB" sz="1800" b="0" i="0" u="none" strike="noStrike" dirty="0">
                <a:effectLst/>
                <a:latin typeface="Arial" panose="020B0604020202020204" pitchFamily="34" charset="0"/>
              </a:rPr>
              <a:t>Plastic Consumption</a:t>
            </a:r>
            <a:endParaRPr lang="en-PK" dirty="0"/>
          </a:p>
        </p:txBody>
      </p:sp>
      <p:sp>
        <p:nvSpPr>
          <p:cNvPr id="6" name="TextBox 5">
            <a:extLst>
              <a:ext uri="{FF2B5EF4-FFF2-40B4-BE49-F238E27FC236}">
                <a16:creationId xmlns:a16="http://schemas.microsoft.com/office/drawing/2014/main" id="{BE46DC2F-B005-CB6D-68F7-3E91BC88828F}"/>
              </a:ext>
            </a:extLst>
          </p:cNvPr>
          <p:cNvSpPr txBox="1"/>
          <p:nvPr/>
        </p:nvSpPr>
        <p:spPr>
          <a:xfrm rot="5400000">
            <a:off x="9429665" y="2491106"/>
            <a:ext cx="2509346" cy="369332"/>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8100000" scaled="1"/>
            <a:tileRect/>
          </a:gradFill>
        </p:spPr>
        <p:txBody>
          <a:bodyPr wrap="square" rtlCol="0">
            <a:spAutoFit/>
          </a:bodyPr>
          <a:lstStyle/>
          <a:p>
            <a:r>
              <a:rPr lang="en-PK" dirty="0"/>
              <a:t>Distance to Work</a:t>
            </a:r>
          </a:p>
        </p:txBody>
      </p:sp>
      <p:sp>
        <p:nvSpPr>
          <p:cNvPr id="7" name="TextBox 6">
            <a:extLst>
              <a:ext uri="{FF2B5EF4-FFF2-40B4-BE49-F238E27FC236}">
                <a16:creationId xmlns:a16="http://schemas.microsoft.com/office/drawing/2014/main" id="{83E91009-6C7D-816E-23DD-B7AD10B23AEE}"/>
              </a:ext>
            </a:extLst>
          </p:cNvPr>
          <p:cNvSpPr txBox="1"/>
          <p:nvPr/>
        </p:nvSpPr>
        <p:spPr>
          <a:xfrm rot="16200000">
            <a:off x="2643773" y="5149375"/>
            <a:ext cx="2509345" cy="369332"/>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8900000" scaled="1"/>
            <a:tileRect/>
          </a:gradFill>
        </p:spPr>
        <p:txBody>
          <a:bodyPr wrap="square" rtlCol="0">
            <a:spAutoFit/>
          </a:bodyPr>
          <a:lstStyle/>
          <a:p>
            <a:r>
              <a:rPr lang="en-PK" dirty="0"/>
              <a:t>Carbon Footprint</a:t>
            </a:r>
          </a:p>
        </p:txBody>
      </p:sp>
      <p:pic>
        <p:nvPicPr>
          <p:cNvPr id="12290" name="Picture 2">
            <a:extLst>
              <a:ext uri="{FF2B5EF4-FFF2-40B4-BE49-F238E27FC236}">
                <a16:creationId xmlns:a16="http://schemas.microsoft.com/office/drawing/2014/main" id="{87A5E54E-3AEF-F7A6-A127-713F10BCE4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4076" y="1423840"/>
            <a:ext cx="3996097" cy="2512088"/>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a:extLst>
              <a:ext uri="{FF2B5EF4-FFF2-40B4-BE49-F238E27FC236}">
                <a16:creationId xmlns:a16="http://schemas.microsoft.com/office/drawing/2014/main" id="{AD786E25-23A5-040D-24BA-3665634A8D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1827" y="1423840"/>
            <a:ext cx="3923925" cy="2509344"/>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a:extLst>
              <a:ext uri="{FF2B5EF4-FFF2-40B4-BE49-F238E27FC236}">
                <a16:creationId xmlns:a16="http://schemas.microsoft.com/office/drawing/2014/main" id="{F0908269-EFBD-0684-83D9-AC612E5A8B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4055" y="4079369"/>
            <a:ext cx="4042834" cy="250934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893F867-8B5C-4786-0BDE-0121EEF7DAD7}"/>
              </a:ext>
            </a:extLst>
          </p:cNvPr>
          <p:cNvSpPr txBox="1"/>
          <p:nvPr/>
        </p:nvSpPr>
        <p:spPr>
          <a:xfrm>
            <a:off x="4299045" y="1638312"/>
            <a:ext cx="1205608" cy="646331"/>
          </a:xfrm>
          <a:prstGeom prst="rect">
            <a:avLst/>
          </a:prstGeom>
          <a:noFill/>
        </p:spPr>
        <p:txBody>
          <a:bodyPr wrap="square" rtlCol="0">
            <a:spAutoFit/>
          </a:bodyPr>
          <a:lstStyle/>
          <a:p>
            <a:r>
              <a:rPr lang="en-PK" sz="1200" dirty="0">
                <a:solidFill>
                  <a:schemeClr val="bg1"/>
                </a:solidFill>
              </a:rPr>
              <a:t>Mean – 6.6</a:t>
            </a:r>
            <a:br>
              <a:rPr lang="en-PK" sz="1200" dirty="0">
                <a:solidFill>
                  <a:schemeClr val="bg1"/>
                </a:solidFill>
              </a:rPr>
            </a:br>
            <a:r>
              <a:rPr lang="en-PK" sz="1200" dirty="0">
                <a:solidFill>
                  <a:schemeClr val="bg1"/>
                </a:solidFill>
              </a:rPr>
              <a:t>Median – 5.4</a:t>
            </a:r>
            <a:br>
              <a:rPr lang="en-PK" sz="1200" dirty="0">
                <a:solidFill>
                  <a:schemeClr val="bg1"/>
                </a:solidFill>
              </a:rPr>
            </a:br>
            <a:r>
              <a:rPr lang="en-PK" sz="1200" dirty="0">
                <a:solidFill>
                  <a:schemeClr val="bg1"/>
                </a:solidFill>
              </a:rPr>
              <a:t>SD – 4.89</a:t>
            </a:r>
            <a:endParaRPr lang="en-PK" sz="2000" dirty="0">
              <a:solidFill>
                <a:schemeClr val="bg1"/>
              </a:solidFill>
            </a:endParaRPr>
          </a:p>
        </p:txBody>
      </p:sp>
      <p:sp>
        <p:nvSpPr>
          <p:cNvPr id="10" name="TextBox 9">
            <a:extLst>
              <a:ext uri="{FF2B5EF4-FFF2-40B4-BE49-F238E27FC236}">
                <a16:creationId xmlns:a16="http://schemas.microsoft.com/office/drawing/2014/main" id="{31C3AF69-04A8-65F3-5519-560795A646DF}"/>
              </a:ext>
            </a:extLst>
          </p:cNvPr>
          <p:cNvSpPr txBox="1"/>
          <p:nvPr/>
        </p:nvSpPr>
        <p:spPr>
          <a:xfrm>
            <a:off x="9148544" y="1638312"/>
            <a:ext cx="1205608" cy="646331"/>
          </a:xfrm>
          <a:prstGeom prst="rect">
            <a:avLst/>
          </a:prstGeom>
          <a:noFill/>
        </p:spPr>
        <p:txBody>
          <a:bodyPr wrap="square" rtlCol="0">
            <a:spAutoFit/>
          </a:bodyPr>
          <a:lstStyle/>
          <a:p>
            <a:r>
              <a:rPr lang="en-PK" sz="1200" dirty="0">
                <a:solidFill>
                  <a:schemeClr val="bg1"/>
                </a:solidFill>
              </a:rPr>
              <a:t>Mean – 11.7</a:t>
            </a:r>
            <a:br>
              <a:rPr lang="en-PK" sz="1200" dirty="0">
                <a:solidFill>
                  <a:schemeClr val="bg1"/>
                </a:solidFill>
              </a:rPr>
            </a:br>
            <a:r>
              <a:rPr lang="en-PK" sz="1200" dirty="0">
                <a:solidFill>
                  <a:schemeClr val="bg1"/>
                </a:solidFill>
              </a:rPr>
              <a:t>Median – 10</a:t>
            </a:r>
            <a:br>
              <a:rPr lang="en-PK" sz="1200" dirty="0">
                <a:solidFill>
                  <a:schemeClr val="bg1"/>
                </a:solidFill>
              </a:rPr>
            </a:br>
            <a:r>
              <a:rPr lang="en-PK" sz="1200" dirty="0">
                <a:solidFill>
                  <a:schemeClr val="bg1"/>
                </a:solidFill>
              </a:rPr>
              <a:t>SD - 8</a:t>
            </a:r>
            <a:endParaRPr lang="en-PK" sz="2000" dirty="0">
              <a:solidFill>
                <a:schemeClr val="bg1"/>
              </a:solidFill>
            </a:endParaRPr>
          </a:p>
        </p:txBody>
      </p:sp>
      <p:sp>
        <p:nvSpPr>
          <p:cNvPr id="11" name="TextBox 10">
            <a:extLst>
              <a:ext uri="{FF2B5EF4-FFF2-40B4-BE49-F238E27FC236}">
                <a16:creationId xmlns:a16="http://schemas.microsoft.com/office/drawing/2014/main" id="{E4B23B07-8639-A70A-D91A-1F5547DB32C3}"/>
              </a:ext>
            </a:extLst>
          </p:cNvPr>
          <p:cNvSpPr txBox="1"/>
          <p:nvPr/>
        </p:nvSpPr>
        <p:spPr>
          <a:xfrm>
            <a:off x="6812508" y="4349167"/>
            <a:ext cx="1205608" cy="646331"/>
          </a:xfrm>
          <a:prstGeom prst="rect">
            <a:avLst/>
          </a:prstGeom>
          <a:noFill/>
        </p:spPr>
        <p:txBody>
          <a:bodyPr wrap="square" rtlCol="0">
            <a:spAutoFit/>
          </a:bodyPr>
          <a:lstStyle/>
          <a:p>
            <a:r>
              <a:rPr lang="en-PK" sz="1200" dirty="0">
                <a:solidFill>
                  <a:schemeClr val="bg1"/>
                </a:solidFill>
              </a:rPr>
              <a:t>Mean – 0.45</a:t>
            </a:r>
            <a:br>
              <a:rPr lang="en-PK" sz="1200" dirty="0">
                <a:solidFill>
                  <a:schemeClr val="bg1"/>
                </a:solidFill>
              </a:rPr>
            </a:br>
            <a:r>
              <a:rPr lang="en-PK" sz="1200" dirty="0">
                <a:solidFill>
                  <a:schemeClr val="bg1"/>
                </a:solidFill>
              </a:rPr>
              <a:t>Median – 0.40</a:t>
            </a:r>
            <a:br>
              <a:rPr lang="en-PK" sz="1200" dirty="0">
                <a:solidFill>
                  <a:schemeClr val="bg1"/>
                </a:solidFill>
              </a:rPr>
            </a:br>
            <a:r>
              <a:rPr lang="en-PK" sz="1200" dirty="0">
                <a:solidFill>
                  <a:schemeClr val="bg1"/>
                </a:solidFill>
              </a:rPr>
              <a:t>SD – 0.30</a:t>
            </a:r>
            <a:endParaRPr lang="en-PK" sz="2000" dirty="0">
              <a:solidFill>
                <a:schemeClr val="bg1"/>
              </a:solidFill>
            </a:endParaRPr>
          </a:p>
        </p:txBody>
      </p:sp>
    </p:spTree>
    <p:extLst>
      <p:ext uri="{BB962C8B-B14F-4D97-AF65-F5344CB8AC3E}">
        <p14:creationId xmlns:p14="http://schemas.microsoft.com/office/powerpoint/2010/main" val="1646540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C765D2-45AF-971C-B597-B708587E45C2}"/>
              </a:ext>
            </a:extLst>
          </p:cNvPr>
          <p:cNvSpPr/>
          <p:nvPr/>
        </p:nvSpPr>
        <p:spPr>
          <a:xfrm>
            <a:off x="1281331" y="248464"/>
            <a:ext cx="9820405" cy="851770"/>
          </a:xfrm>
          <a:prstGeom prst="rect">
            <a:avLst/>
          </a:prstGeom>
          <a:gradFill flip="none" rotWithShape="1">
            <a:gsLst>
              <a:gs pos="0">
                <a:srgbClr val="335F20">
                  <a:shade val="30000"/>
                  <a:satMod val="115000"/>
                </a:srgbClr>
              </a:gs>
              <a:gs pos="50000">
                <a:srgbClr val="335F20">
                  <a:shade val="67500"/>
                  <a:satMod val="115000"/>
                </a:srgbClr>
              </a:gs>
              <a:gs pos="100000">
                <a:srgbClr val="335F20">
                  <a:shade val="100000"/>
                  <a:satMod val="115000"/>
                </a:srgbClr>
              </a:gs>
            </a:gsLst>
            <a:path path="circle">
              <a:fillToRect l="100000" b="100000"/>
            </a:path>
            <a:tileRect t="-100000" r="-100000"/>
          </a:gra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effectLst/>
                <a:latin typeface="Times New Roman" panose="02020603050405020304" pitchFamily="18" charset="0"/>
              </a:rPr>
              <a:t>Descriptive Statistics Results – Visualizations</a:t>
            </a:r>
            <a:endParaRPr lang="en-PK" sz="2400" dirty="0"/>
          </a:p>
        </p:txBody>
      </p:sp>
      <p:pic>
        <p:nvPicPr>
          <p:cNvPr id="8194" name="Picture 2">
            <a:extLst>
              <a:ext uri="{FF2B5EF4-FFF2-40B4-BE49-F238E27FC236}">
                <a16:creationId xmlns:a16="http://schemas.microsoft.com/office/drawing/2014/main" id="{51EF3791-2495-EDFB-B73F-60E8018666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0946" y="1236910"/>
            <a:ext cx="3945762" cy="219209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2780F3B-B069-E16C-B87D-63B77E22E578}"/>
              </a:ext>
            </a:extLst>
          </p:cNvPr>
          <p:cNvSpPr txBox="1"/>
          <p:nvPr/>
        </p:nvSpPr>
        <p:spPr>
          <a:xfrm>
            <a:off x="3493827" y="1799879"/>
            <a:ext cx="1555843" cy="276999"/>
          </a:xfrm>
          <a:prstGeom prst="rect">
            <a:avLst/>
          </a:prstGeom>
          <a:noFill/>
        </p:spPr>
        <p:txBody>
          <a:bodyPr wrap="square" rtlCol="0">
            <a:spAutoFit/>
          </a:bodyPr>
          <a:lstStyle/>
          <a:p>
            <a:r>
              <a:rPr lang="en-US" sz="1200" dirty="0">
                <a:solidFill>
                  <a:schemeClr val="bg1"/>
                </a:solidFill>
                <a:latin typeface="WordVisi_MSFontService"/>
              </a:rPr>
              <a:t>N</a:t>
            </a:r>
            <a:r>
              <a:rPr lang="en-US" sz="1200" b="0" i="0" dirty="0">
                <a:solidFill>
                  <a:schemeClr val="bg1"/>
                </a:solidFill>
                <a:effectLst/>
                <a:latin typeface="WordVisi_MSFontService"/>
              </a:rPr>
              <a:t>egative </a:t>
            </a:r>
            <a:r>
              <a:rPr lang="en-US" sz="1200" dirty="0">
                <a:solidFill>
                  <a:schemeClr val="bg1"/>
                </a:solidFill>
                <a:latin typeface="WordVisi_MSFontService"/>
              </a:rPr>
              <a:t>c</a:t>
            </a:r>
            <a:r>
              <a:rPr lang="en-US" sz="1200" b="0" i="0" dirty="0">
                <a:solidFill>
                  <a:schemeClr val="bg1"/>
                </a:solidFill>
                <a:effectLst/>
                <a:latin typeface="WordVisi_MSFontService"/>
              </a:rPr>
              <a:t>orrelation </a:t>
            </a:r>
            <a:endParaRPr lang="en-PK" sz="1200" dirty="0">
              <a:solidFill>
                <a:schemeClr val="bg1"/>
              </a:solidFill>
            </a:endParaRPr>
          </a:p>
        </p:txBody>
      </p:sp>
      <p:pic>
        <p:nvPicPr>
          <p:cNvPr id="8196" name="Picture 4">
            <a:extLst>
              <a:ext uri="{FF2B5EF4-FFF2-40B4-BE49-F238E27FC236}">
                <a16:creationId xmlns:a16="http://schemas.microsoft.com/office/drawing/2014/main" id="{B4132BC0-2156-02A7-F83F-593D734F08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8929" y="2685017"/>
            <a:ext cx="3991740" cy="232355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5FE107F1-7386-5B7A-3575-04F5178426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0946" y="4305845"/>
            <a:ext cx="3991740" cy="23036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2B027C1-5E09-2B75-108E-5037E3750980}"/>
              </a:ext>
            </a:extLst>
          </p:cNvPr>
          <p:cNvSpPr txBox="1"/>
          <p:nvPr/>
        </p:nvSpPr>
        <p:spPr>
          <a:xfrm>
            <a:off x="5512686" y="1246294"/>
            <a:ext cx="5301439" cy="584775"/>
          </a:xfrm>
          <a:prstGeom prst="rect">
            <a:avLst/>
          </a:prstGeom>
          <a:noFill/>
        </p:spPr>
        <p:txBody>
          <a:bodyPr wrap="square" rtlCol="0">
            <a:spAutoFit/>
          </a:bodyPr>
          <a:lstStyle/>
          <a:p>
            <a:r>
              <a:rPr lang="en-US" sz="1600" b="0" i="1" dirty="0" err="1">
                <a:effectLst/>
                <a:latin typeface="Aptos" panose="020B0004020202020204" pitchFamily="34" charset="0"/>
              </a:rPr>
              <a:t>Distance_to_Work</a:t>
            </a:r>
            <a:r>
              <a:rPr lang="en-US" sz="1600" b="0" i="1" dirty="0">
                <a:effectLst/>
                <a:latin typeface="Aptos" panose="020B0004020202020204" pitchFamily="34" charset="0"/>
              </a:rPr>
              <a:t> against </a:t>
            </a:r>
            <a:r>
              <a:rPr lang="en-US" sz="1600" b="0" i="1" dirty="0" err="1">
                <a:effectLst/>
                <a:latin typeface="Aptos" panose="020B0004020202020204" pitchFamily="34" charset="0"/>
              </a:rPr>
              <a:t>Public_Transport_Usage</a:t>
            </a:r>
            <a:r>
              <a:rPr lang="en-US" sz="1600" b="0" i="1" dirty="0">
                <a:effectLst/>
                <a:latin typeface="Aptos" panose="020B0004020202020204" pitchFamily="34" charset="0"/>
              </a:rPr>
              <a:t> </a:t>
            </a:r>
            <a:br>
              <a:rPr lang="en-US" sz="1600" b="0" i="1" dirty="0">
                <a:effectLst/>
                <a:latin typeface="Aptos" panose="020B0004020202020204" pitchFamily="34" charset="0"/>
              </a:rPr>
            </a:br>
            <a:r>
              <a:rPr lang="en-US" sz="1600" b="0" i="1" dirty="0">
                <a:effectLst/>
                <a:latin typeface="Aptos" panose="020B0004020202020204" pitchFamily="34" charset="0"/>
              </a:rPr>
              <a:t>(Scatter Plot) </a:t>
            </a:r>
            <a:endParaRPr lang="en-PK" sz="1600" i="1" dirty="0"/>
          </a:p>
        </p:txBody>
      </p:sp>
      <p:sp>
        <p:nvSpPr>
          <p:cNvPr id="17" name="TextBox 16">
            <a:extLst>
              <a:ext uri="{FF2B5EF4-FFF2-40B4-BE49-F238E27FC236}">
                <a16:creationId xmlns:a16="http://schemas.microsoft.com/office/drawing/2014/main" id="{C8316C26-079B-B851-1548-6B50C73141C8}"/>
              </a:ext>
            </a:extLst>
          </p:cNvPr>
          <p:cNvSpPr txBox="1"/>
          <p:nvPr/>
        </p:nvSpPr>
        <p:spPr>
          <a:xfrm>
            <a:off x="2800129" y="3646590"/>
            <a:ext cx="3991740" cy="338554"/>
          </a:xfrm>
          <a:prstGeom prst="rect">
            <a:avLst/>
          </a:prstGeom>
          <a:noFill/>
        </p:spPr>
        <p:txBody>
          <a:bodyPr wrap="square">
            <a:spAutoFit/>
          </a:bodyPr>
          <a:lstStyle/>
          <a:p>
            <a:r>
              <a:rPr lang="en-US" sz="1600" b="0" i="1" dirty="0">
                <a:effectLst/>
                <a:latin typeface="Aptos" panose="020B0004020202020204" pitchFamily="34" charset="0"/>
              </a:rPr>
              <a:t>Carbon footprint by income level (Box Plot) </a:t>
            </a:r>
            <a:endParaRPr lang="en-PK" sz="1600" dirty="0"/>
          </a:p>
        </p:txBody>
      </p:sp>
      <p:sp>
        <p:nvSpPr>
          <p:cNvPr id="19" name="TextBox 18">
            <a:extLst>
              <a:ext uri="{FF2B5EF4-FFF2-40B4-BE49-F238E27FC236}">
                <a16:creationId xmlns:a16="http://schemas.microsoft.com/office/drawing/2014/main" id="{D101324D-CB72-5E40-58DA-98F2886E7835}"/>
              </a:ext>
            </a:extLst>
          </p:cNvPr>
          <p:cNvSpPr txBox="1"/>
          <p:nvPr/>
        </p:nvSpPr>
        <p:spPr>
          <a:xfrm>
            <a:off x="5512686" y="5776736"/>
            <a:ext cx="4937078" cy="584775"/>
          </a:xfrm>
          <a:prstGeom prst="rect">
            <a:avLst/>
          </a:prstGeom>
          <a:noFill/>
        </p:spPr>
        <p:txBody>
          <a:bodyPr wrap="square">
            <a:spAutoFit/>
          </a:bodyPr>
          <a:lstStyle/>
          <a:p>
            <a:r>
              <a:rPr lang="en-US" sz="1600" b="0" i="1" dirty="0">
                <a:effectLst/>
                <a:latin typeface="Aptos" panose="020B0004020202020204" pitchFamily="34" charset="0"/>
              </a:rPr>
              <a:t>Sum of Public Transport Usage by Income Level </a:t>
            </a:r>
            <a:br>
              <a:rPr lang="en-US" sz="1600" b="0" i="1" dirty="0">
                <a:effectLst/>
                <a:latin typeface="Aptos" panose="020B0004020202020204" pitchFamily="34" charset="0"/>
              </a:rPr>
            </a:br>
            <a:r>
              <a:rPr lang="en-US" sz="1600" b="0" i="1" dirty="0">
                <a:effectLst/>
                <a:latin typeface="Aptos" panose="020B0004020202020204" pitchFamily="34" charset="0"/>
              </a:rPr>
              <a:t>(Bar Chart) </a:t>
            </a:r>
            <a:endParaRPr lang="en-PK" sz="1600" dirty="0"/>
          </a:p>
        </p:txBody>
      </p:sp>
    </p:spTree>
    <p:extLst>
      <p:ext uri="{BB962C8B-B14F-4D97-AF65-F5344CB8AC3E}">
        <p14:creationId xmlns:p14="http://schemas.microsoft.com/office/powerpoint/2010/main" val="2563330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C765D2-45AF-971C-B597-B708587E45C2}"/>
              </a:ext>
            </a:extLst>
          </p:cNvPr>
          <p:cNvSpPr/>
          <p:nvPr/>
        </p:nvSpPr>
        <p:spPr>
          <a:xfrm>
            <a:off x="1185797" y="425885"/>
            <a:ext cx="9820405" cy="851770"/>
          </a:xfrm>
          <a:prstGeom prst="rect">
            <a:avLst/>
          </a:prstGeom>
          <a:gradFill flip="none" rotWithShape="1">
            <a:gsLst>
              <a:gs pos="0">
                <a:srgbClr val="335F20">
                  <a:shade val="30000"/>
                  <a:satMod val="115000"/>
                </a:srgbClr>
              </a:gs>
              <a:gs pos="50000">
                <a:srgbClr val="335F20">
                  <a:shade val="67500"/>
                  <a:satMod val="115000"/>
                </a:srgbClr>
              </a:gs>
              <a:gs pos="100000">
                <a:srgbClr val="335F20">
                  <a:shade val="100000"/>
                  <a:satMod val="115000"/>
                </a:srgbClr>
              </a:gs>
            </a:gsLst>
            <a:path path="circle">
              <a:fillToRect l="100000" b="100000"/>
            </a:path>
            <a:tileRect t="-100000" r="-100000"/>
          </a:gra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2400" dirty="0">
              <a:latin typeface="Helvetica" pitchFamily="2" charset="0"/>
            </a:endParaRPr>
          </a:p>
          <a:p>
            <a:r>
              <a:rPr lang="en-GB" sz="2400" b="1" dirty="0">
                <a:latin typeface="Helvetica" pitchFamily="2" charset="0"/>
              </a:rPr>
              <a:t>I</a:t>
            </a:r>
            <a:r>
              <a:rPr lang="en-GB" sz="2400" b="1" dirty="0">
                <a:effectLst/>
                <a:latin typeface="Helvetica" pitchFamily="2" charset="0"/>
              </a:rPr>
              <a:t>nferential testing : Parametric tests - </a:t>
            </a:r>
            <a:r>
              <a:rPr lang="es-EC" sz="1800" b="1" i="1" dirty="0" err="1">
                <a:solidFill>
                  <a:schemeClr val="tx1"/>
                </a:solidFill>
                <a:effectLst/>
                <a:latin typeface="Aptos" panose="020B0004020202020204" pitchFamily="34" charset="0"/>
              </a:rPr>
              <a:t>Two-sample</a:t>
            </a:r>
            <a:r>
              <a:rPr lang="es-EC" sz="1800" b="1" i="1" dirty="0">
                <a:solidFill>
                  <a:schemeClr val="tx1"/>
                </a:solidFill>
                <a:effectLst/>
                <a:latin typeface="Aptos" panose="020B0004020202020204" pitchFamily="34" charset="0"/>
              </a:rPr>
              <a:t> t-Test </a:t>
            </a:r>
            <a:r>
              <a:rPr lang="en-GB" sz="2400" b="1" dirty="0">
                <a:solidFill>
                  <a:schemeClr val="tx1"/>
                </a:solidFill>
                <a:effectLst/>
                <a:latin typeface="Helvetica" pitchFamily="2" charset="0"/>
              </a:rPr>
              <a:t> </a:t>
            </a:r>
          </a:p>
          <a:p>
            <a:endParaRPr lang="en-PK" sz="2400" dirty="0"/>
          </a:p>
        </p:txBody>
      </p:sp>
      <p:sp>
        <p:nvSpPr>
          <p:cNvPr id="6" name="TextBox 5">
            <a:extLst>
              <a:ext uri="{FF2B5EF4-FFF2-40B4-BE49-F238E27FC236}">
                <a16:creationId xmlns:a16="http://schemas.microsoft.com/office/drawing/2014/main" id="{CDEEA1CC-8D3F-0319-147C-82C7AF97AFA9}"/>
              </a:ext>
            </a:extLst>
          </p:cNvPr>
          <p:cNvSpPr txBox="1"/>
          <p:nvPr/>
        </p:nvSpPr>
        <p:spPr>
          <a:xfrm>
            <a:off x="1185796" y="1428550"/>
            <a:ext cx="9820405" cy="646331"/>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p:spPr>
        <p:txBody>
          <a:bodyPr wrap="square">
            <a:spAutoFit/>
          </a:bodyPr>
          <a:lstStyle/>
          <a:p>
            <a:r>
              <a:rPr lang="en-US" sz="1800" b="1" i="1" dirty="0">
                <a:effectLst/>
                <a:latin typeface="Aptos" panose="020B0004020202020204" pitchFamily="34" charset="0"/>
              </a:rPr>
              <a:t>Research Question</a:t>
            </a:r>
            <a:r>
              <a:rPr lang="en-US" sz="1800" b="0" i="1" dirty="0">
                <a:effectLst/>
                <a:latin typeface="Aptos" panose="020B0004020202020204" pitchFamily="34" charset="0"/>
              </a:rPr>
              <a:t>: Is there a significant difference in the Gas Usage (LPG kg) between the people who recycle and the people who don't? </a:t>
            </a:r>
            <a:endParaRPr lang="en-PK" dirty="0"/>
          </a:p>
        </p:txBody>
      </p:sp>
      <p:sp>
        <p:nvSpPr>
          <p:cNvPr id="8" name="TextBox 7">
            <a:extLst>
              <a:ext uri="{FF2B5EF4-FFF2-40B4-BE49-F238E27FC236}">
                <a16:creationId xmlns:a16="http://schemas.microsoft.com/office/drawing/2014/main" id="{AAF917BE-C87D-16A2-23A3-602A61740093}"/>
              </a:ext>
            </a:extLst>
          </p:cNvPr>
          <p:cNvSpPr txBox="1"/>
          <p:nvPr/>
        </p:nvSpPr>
        <p:spPr>
          <a:xfrm>
            <a:off x="1185796" y="4690786"/>
            <a:ext cx="4013123" cy="1477328"/>
          </a:xfrm>
          <a:prstGeom prst="rect">
            <a:avLst/>
          </a:prstGeom>
          <a:noFill/>
          <a:ln>
            <a:solidFill>
              <a:schemeClr val="tx1"/>
            </a:solidFill>
          </a:ln>
        </p:spPr>
        <p:txBody>
          <a:bodyPr wrap="square">
            <a:spAutoFit/>
          </a:bodyPr>
          <a:lstStyle/>
          <a:p>
            <a:r>
              <a:rPr lang="en-GB" dirty="0">
                <a:latin typeface="Aptos" panose="020B0004020202020204" pitchFamily="34" charset="0"/>
              </a:rPr>
              <a:t>With a </a:t>
            </a:r>
            <a:r>
              <a:rPr lang="en-GB" b="0" i="0" dirty="0">
                <a:effectLst/>
                <a:latin typeface="Aptos" panose="020B0004020202020204" pitchFamily="34" charset="0"/>
              </a:rPr>
              <a:t>p-value 0.02418,  we </a:t>
            </a:r>
            <a:r>
              <a:rPr lang="en-GB" b="1" i="0" dirty="0">
                <a:effectLst/>
                <a:latin typeface="Aptos" panose="020B0004020202020204" pitchFamily="34" charset="0"/>
              </a:rPr>
              <a:t>reject H0</a:t>
            </a:r>
            <a:r>
              <a:rPr lang="en-GB" b="0" i="0" dirty="0">
                <a:effectLst/>
                <a:latin typeface="Aptos" panose="020B0004020202020204" pitchFamily="34" charset="0"/>
              </a:rPr>
              <a:t>.</a:t>
            </a:r>
          </a:p>
          <a:p>
            <a:endParaRPr lang="en-GB" dirty="0">
              <a:latin typeface="Aptos" panose="020B0004020202020204" pitchFamily="34" charset="0"/>
            </a:endParaRPr>
          </a:p>
          <a:p>
            <a:r>
              <a:rPr lang="en-GB" b="0" i="0" dirty="0">
                <a:effectLst/>
                <a:latin typeface="Aptos" panose="020B0004020202020204" pitchFamily="34" charset="0"/>
              </a:rPr>
              <a:t>The Gas Usage (LPG kg) between people who recycle and people who don't is significantly different. </a:t>
            </a:r>
            <a:endParaRPr lang="en-PK" dirty="0"/>
          </a:p>
        </p:txBody>
      </p:sp>
      <p:pic>
        <p:nvPicPr>
          <p:cNvPr id="4" name="Picture 3">
            <a:extLst>
              <a:ext uri="{FF2B5EF4-FFF2-40B4-BE49-F238E27FC236}">
                <a16:creationId xmlns:a16="http://schemas.microsoft.com/office/drawing/2014/main" id="{1E1A8C3B-1760-3B7F-6CC7-F43BCBB51A05}"/>
              </a:ext>
            </a:extLst>
          </p:cNvPr>
          <p:cNvPicPr>
            <a:picLocks noChangeAspect="1"/>
          </p:cNvPicPr>
          <p:nvPr/>
        </p:nvPicPr>
        <p:blipFill>
          <a:blip r:embed="rId2"/>
          <a:stretch>
            <a:fillRect/>
          </a:stretch>
        </p:blipFill>
        <p:spPr>
          <a:xfrm>
            <a:off x="1185796" y="2224287"/>
            <a:ext cx="8087854" cy="1895740"/>
          </a:xfrm>
          <a:prstGeom prst="rect">
            <a:avLst/>
          </a:prstGeom>
        </p:spPr>
      </p:pic>
      <p:pic>
        <p:nvPicPr>
          <p:cNvPr id="5" name="Picture 2">
            <a:extLst>
              <a:ext uri="{FF2B5EF4-FFF2-40B4-BE49-F238E27FC236}">
                <a16:creationId xmlns:a16="http://schemas.microsoft.com/office/drawing/2014/main" id="{CFCCF083-92AD-F019-40A2-94856253E3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1000" y="3021313"/>
            <a:ext cx="5693620" cy="365045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96127ABA-1C05-A244-F6CD-C8F470892CD7}"/>
              </a:ext>
            </a:extLst>
          </p:cNvPr>
          <p:cNvSpPr/>
          <p:nvPr/>
        </p:nvSpPr>
        <p:spPr>
          <a:xfrm>
            <a:off x="3594100" y="2463800"/>
            <a:ext cx="1866900" cy="203200"/>
          </a:xfrm>
          <a:prstGeom prst="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474892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0D261-0D02-D800-282E-B83C7142596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A6F18E1-DDD0-92CA-D3B4-D1C500E33055}"/>
              </a:ext>
            </a:extLst>
          </p:cNvPr>
          <p:cNvSpPr/>
          <p:nvPr/>
        </p:nvSpPr>
        <p:spPr>
          <a:xfrm>
            <a:off x="1185797" y="425885"/>
            <a:ext cx="9820405" cy="851770"/>
          </a:xfrm>
          <a:prstGeom prst="rect">
            <a:avLst/>
          </a:prstGeom>
          <a:gradFill flip="none" rotWithShape="1">
            <a:gsLst>
              <a:gs pos="0">
                <a:srgbClr val="335F20">
                  <a:shade val="30000"/>
                  <a:satMod val="115000"/>
                </a:srgbClr>
              </a:gs>
              <a:gs pos="50000">
                <a:srgbClr val="335F20">
                  <a:shade val="67500"/>
                  <a:satMod val="115000"/>
                </a:srgbClr>
              </a:gs>
              <a:gs pos="100000">
                <a:srgbClr val="335F20">
                  <a:shade val="100000"/>
                  <a:satMod val="115000"/>
                </a:srgbClr>
              </a:gs>
            </a:gsLst>
            <a:path path="circle">
              <a:fillToRect l="100000" b="100000"/>
            </a:path>
            <a:tileRect t="-100000" r="-100000"/>
          </a:gra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2400" dirty="0">
              <a:latin typeface="Helvetica" pitchFamily="2" charset="0"/>
            </a:endParaRPr>
          </a:p>
          <a:p>
            <a:r>
              <a:rPr lang="en-GB" sz="2400" b="1" dirty="0">
                <a:latin typeface="Helvetica" pitchFamily="2" charset="0"/>
              </a:rPr>
              <a:t>I</a:t>
            </a:r>
            <a:r>
              <a:rPr lang="en-GB" sz="2400" b="1" dirty="0">
                <a:effectLst/>
                <a:latin typeface="Helvetica" pitchFamily="2" charset="0"/>
              </a:rPr>
              <a:t>nferential testing : Parametric tests </a:t>
            </a:r>
            <a:r>
              <a:rPr lang="en-GB" sz="2400" dirty="0">
                <a:effectLst/>
                <a:latin typeface="Helvetica" pitchFamily="2" charset="0"/>
              </a:rPr>
              <a:t>- </a:t>
            </a:r>
            <a:r>
              <a:rPr lang="es-EC" sz="1800" b="0" i="1" dirty="0" err="1">
                <a:solidFill>
                  <a:schemeClr val="tx1"/>
                </a:solidFill>
                <a:effectLst/>
                <a:latin typeface="Aptos" panose="020B0004020202020204" pitchFamily="34" charset="0"/>
              </a:rPr>
              <a:t>Correlation</a:t>
            </a:r>
            <a:r>
              <a:rPr lang="es-EC" sz="1800" b="0" i="1" dirty="0">
                <a:solidFill>
                  <a:schemeClr val="tx1"/>
                </a:solidFill>
                <a:effectLst/>
                <a:latin typeface="Aptos" panose="020B0004020202020204" pitchFamily="34" charset="0"/>
              </a:rPr>
              <a:t> Test </a:t>
            </a:r>
            <a:r>
              <a:rPr lang="en-GB" sz="2400" dirty="0">
                <a:solidFill>
                  <a:schemeClr val="tx1"/>
                </a:solidFill>
                <a:effectLst/>
                <a:latin typeface="Helvetica" pitchFamily="2" charset="0"/>
              </a:rPr>
              <a:t> </a:t>
            </a:r>
          </a:p>
          <a:p>
            <a:endParaRPr lang="en-PK" sz="2400" dirty="0"/>
          </a:p>
        </p:txBody>
      </p:sp>
      <p:sp>
        <p:nvSpPr>
          <p:cNvPr id="11" name="TextBox 10">
            <a:extLst>
              <a:ext uri="{FF2B5EF4-FFF2-40B4-BE49-F238E27FC236}">
                <a16:creationId xmlns:a16="http://schemas.microsoft.com/office/drawing/2014/main" id="{8B7D96EB-CA4E-4DC8-3833-346BC737AC67}"/>
              </a:ext>
            </a:extLst>
          </p:cNvPr>
          <p:cNvSpPr txBox="1"/>
          <p:nvPr/>
        </p:nvSpPr>
        <p:spPr>
          <a:xfrm>
            <a:off x="1185796" y="1391302"/>
            <a:ext cx="9820405" cy="646331"/>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p:spPr>
        <p:txBody>
          <a:bodyPr wrap="square">
            <a:spAutoFit/>
          </a:bodyPr>
          <a:lstStyle/>
          <a:p>
            <a:r>
              <a:rPr lang="en-US" sz="1800" b="1" i="1" dirty="0">
                <a:effectLst/>
                <a:latin typeface="Aptos" panose="020B0004020202020204" pitchFamily="34" charset="0"/>
              </a:rPr>
              <a:t>Research Question</a:t>
            </a:r>
            <a:r>
              <a:rPr lang="en-US" sz="1800" b="0" i="1" dirty="0">
                <a:effectLst/>
                <a:latin typeface="Aptos" panose="020B0004020202020204" pitchFamily="34" charset="0"/>
              </a:rPr>
              <a:t>: Is there a significant correlation between Electricity Usage (kWh) and the Gas Usage (LPG kg)? </a:t>
            </a:r>
            <a:endParaRPr lang="en-PK" dirty="0"/>
          </a:p>
        </p:txBody>
      </p:sp>
      <p:sp>
        <p:nvSpPr>
          <p:cNvPr id="14" name="TextBox 13">
            <a:extLst>
              <a:ext uri="{FF2B5EF4-FFF2-40B4-BE49-F238E27FC236}">
                <a16:creationId xmlns:a16="http://schemas.microsoft.com/office/drawing/2014/main" id="{78210CB8-B78B-7304-6C84-5228F9946211}"/>
              </a:ext>
            </a:extLst>
          </p:cNvPr>
          <p:cNvSpPr txBox="1"/>
          <p:nvPr/>
        </p:nvSpPr>
        <p:spPr>
          <a:xfrm>
            <a:off x="1136989" y="4286489"/>
            <a:ext cx="4095384" cy="1754326"/>
          </a:xfrm>
          <a:prstGeom prst="rect">
            <a:avLst/>
          </a:prstGeom>
          <a:noFill/>
          <a:ln>
            <a:solidFill>
              <a:schemeClr val="tx1"/>
            </a:solidFill>
          </a:ln>
        </p:spPr>
        <p:txBody>
          <a:bodyPr wrap="square">
            <a:spAutoFit/>
          </a:bodyPr>
          <a:lstStyle/>
          <a:p>
            <a:r>
              <a:rPr lang="en-US" b="0" i="0" dirty="0">
                <a:effectLst/>
                <a:latin typeface="Aptos" panose="020B0004020202020204" pitchFamily="34" charset="0"/>
              </a:rPr>
              <a:t>With a p-value &lt; 2.2e-16, we </a:t>
            </a:r>
            <a:r>
              <a:rPr lang="en-US" b="1" i="0" dirty="0">
                <a:effectLst/>
                <a:latin typeface="Aptos" panose="020B0004020202020204" pitchFamily="34" charset="0"/>
              </a:rPr>
              <a:t>reject H0</a:t>
            </a:r>
            <a:r>
              <a:rPr lang="en-US" b="0" i="0" dirty="0">
                <a:effectLst/>
                <a:latin typeface="Aptos" panose="020B0004020202020204" pitchFamily="34" charset="0"/>
              </a:rPr>
              <a:t>. </a:t>
            </a:r>
          </a:p>
          <a:p>
            <a:endParaRPr lang="en-US" dirty="0">
              <a:latin typeface="Aptos" panose="020B0004020202020204" pitchFamily="34" charset="0"/>
            </a:endParaRPr>
          </a:p>
          <a:p>
            <a:r>
              <a:rPr lang="en-US" b="0" i="0" dirty="0">
                <a:effectLst/>
                <a:latin typeface="Aptos" panose="020B0004020202020204" pitchFamily="34" charset="0"/>
              </a:rPr>
              <a:t>There is </a:t>
            </a:r>
            <a:r>
              <a:rPr lang="en-US" dirty="0">
                <a:latin typeface="Aptos" panose="020B0004020202020204" pitchFamily="34" charset="0"/>
              </a:rPr>
              <a:t>a significant positive correlation. As the Electricity Usage increases, the Gas Usage increases as well. </a:t>
            </a:r>
            <a:endParaRPr lang="en-PK" dirty="0">
              <a:latin typeface="Aptos" panose="020B0004020202020204" pitchFamily="34" charset="0"/>
            </a:endParaRPr>
          </a:p>
        </p:txBody>
      </p:sp>
      <p:pic>
        <p:nvPicPr>
          <p:cNvPr id="4" name="Picture 3">
            <a:extLst>
              <a:ext uri="{FF2B5EF4-FFF2-40B4-BE49-F238E27FC236}">
                <a16:creationId xmlns:a16="http://schemas.microsoft.com/office/drawing/2014/main" id="{D3182884-D368-397A-0F4B-C4C26078D24E}"/>
              </a:ext>
            </a:extLst>
          </p:cNvPr>
          <p:cNvPicPr>
            <a:picLocks noChangeAspect="1"/>
          </p:cNvPicPr>
          <p:nvPr/>
        </p:nvPicPr>
        <p:blipFill>
          <a:blip r:embed="rId2"/>
          <a:stretch>
            <a:fillRect/>
          </a:stretch>
        </p:blipFill>
        <p:spPr>
          <a:xfrm>
            <a:off x="1185796" y="2242897"/>
            <a:ext cx="6650455" cy="1633630"/>
          </a:xfrm>
          <a:prstGeom prst="rect">
            <a:avLst/>
          </a:prstGeom>
        </p:spPr>
      </p:pic>
      <p:pic>
        <p:nvPicPr>
          <p:cNvPr id="5" name="Picture 4">
            <a:extLst>
              <a:ext uri="{FF2B5EF4-FFF2-40B4-BE49-F238E27FC236}">
                <a16:creationId xmlns:a16="http://schemas.microsoft.com/office/drawing/2014/main" id="{2C19171D-BFE5-2F1E-203C-08C30093EB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2373" y="2857558"/>
            <a:ext cx="6011114" cy="384188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FE96295D-E1B0-66DB-4280-28468B901126}"/>
              </a:ext>
            </a:extLst>
          </p:cNvPr>
          <p:cNvSpPr/>
          <p:nvPr/>
        </p:nvSpPr>
        <p:spPr>
          <a:xfrm>
            <a:off x="3577572" y="2244394"/>
            <a:ext cx="2150127" cy="308305"/>
          </a:xfrm>
          <a:prstGeom prst="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9" name="Rectangle 8">
            <a:extLst>
              <a:ext uri="{FF2B5EF4-FFF2-40B4-BE49-F238E27FC236}">
                <a16:creationId xmlns:a16="http://schemas.microsoft.com/office/drawing/2014/main" id="{ACB57DF9-0E7C-9ABA-3441-14475EBF328C}"/>
              </a:ext>
            </a:extLst>
          </p:cNvPr>
          <p:cNvSpPr/>
          <p:nvPr/>
        </p:nvSpPr>
        <p:spPr>
          <a:xfrm>
            <a:off x="1136989" y="3568222"/>
            <a:ext cx="1212511" cy="308305"/>
          </a:xfrm>
          <a:prstGeom prst="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108737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C765D2-45AF-971C-B597-B708587E45C2}"/>
              </a:ext>
            </a:extLst>
          </p:cNvPr>
          <p:cNvSpPr/>
          <p:nvPr/>
        </p:nvSpPr>
        <p:spPr>
          <a:xfrm>
            <a:off x="1185797" y="425885"/>
            <a:ext cx="9820405" cy="851770"/>
          </a:xfrm>
          <a:prstGeom prst="rect">
            <a:avLst/>
          </a:prstGeom>
          <a:gradFill flip="none" rotWithShape="1">
            <a:gsLst>
              <a:gs pos="0">
                <a:srgbClr val="335F20">
                  <a:shade val="30000"/>
                  <a:satMod val="115000"/>
                </a:srgbClr>
              </a:gs>
              <a:gs pos="50000">
                <a:srgbClr val="335F20">
                  <a:shade val="67500"/>
                  <a:satMod val="115000"/>
                </a:srgbClr>
              </a:gs>
              <a:gs pos="100000">
                <a:srgbClr val="335F20">
                  <a:shade val="100000"/>
                  <a:satMod val="115000"/>
                </a:srgbClr>
              </a:gs>
            </a:gsLst>
            <a:path path="circle">
              <a:fillToRect l="100000" b="100000"/>
            </a:path>
            <a:tileRect t="-100000" r="-100000"/>
          </a:gra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2400" dirty="0">
              <a:latin typeface="Helvetica" pitchFamily="2" charset="0"/>
            </a:endParaRPr>
          </a:p>
          <a:p>
            <a:r>
              <a:rPr lang="en-GB" sz="2400" b="1" dirty="0">
                <a:latin typeface="Helvetica" pitchFamily="2" charset="0"/>
              </a:rPr>
              <a:t>I</a:t>
            </a:r>
            <a:r>
              <a:rPr lang="en-GB" sz="2400" b="1" dirty="0">
                <a:effectLst/>
                <a:latin typeface="Helvetica" pitchFamily="2" charset="0"/>
              </a:rPr>
              <a:t>nferential testing </a:t>
            </a:r>
            <a:r>
              <a:rPr lang="en-GB" sz="2400" dirty="0">
                <a:effectLst/>
                <a:latin typeface="Helvetica" pitchFamily="2" charset="0"/>
              </a:rPr>
              <a:t>: </a:t>
            </a:r>
            <a:r>
              <a:rPr lang="en-GB" sz="2400" b="1" i="0" dirty="0">
                <a:solidFill>
                  <a:schemeClr val="tx1"/>
                </a:solidFill>
                <a:effectLst/>
                <a:latin typeface="Aptos" panose="020B0004020202020204" pitchFamily="34" charset="0"/>
              </a:rPr>
              <a:t>Non-parametric tests</a:t>
            </a:r>
            <a:r>
              <a:rPr lang="en-GB" sz="2400" b="1" dirty="0">
                <a:solidFill>
                  <a:schemeClr val="tx1"/>
                </a:solidFill>
                <a:effectLst/>
                <a:latin typeface="Helvetica" pitchFamily="2" charset="0"/>
              </a:rPr>
              <a:t>-</a:t>
            </a:r>
            <a:r>
              <a:rPr lang="en-GB" sz="2400" dirty="0">
                <a:solidFill>
                  <a:schemeClr val="tx1"/>
                </a:solidFill>
                <a:effectLst/>
                <a:latin typeface="Helvetica" pitchFamily="2" charset="0"/>
              </a:rPr>
              <a:t> </a:t>
            </a:r>
            <a:r>
              <a:rPr lang="es-EC" sz="1800" b="0" i="1" dirty="0">
                <a:solidFill>
                  <a:schemeClr val="tx1"/>
                </a:solidFill>
                <a:effectLst/>
                <a:latin typeface="Aptos" panose="020B0004020202020204" pitchFamily="34" charset="0"/>
              </a:rPr>
              <a:t>Chi-square test </a:t>
            </a:r>
            <a:endParaRPr lang="en-GB" sz="2400" dirty="0">
              <a:solidFill>
                <a:schemeClr val="tx1"/>
              </a:solidFill>
              <a:effectLst/>
              <a:latin typeface="Helvetica" pitchFamily="2" charset="0"/>
            </a:endParaRPr>
          </a:p>
          <a:p>
            <a:endParaRPr lang="en-PK" sz="2400" dirty="0"/>
          </a:p>
        </p:txBody>
      </p:sp>
      <p:sp>
        <p:nvSpPr>
          <p:cNvPr id="6" name="TextBox 5">
            <a:extLst>
              <a:ext uri="{FF2B5EF4-FFF2-40B4-BE49-F238E27FC236}">
                <a16:creationId xmlns:a16="http://schemas.microsoft.com/office/drawing/2014/main" id="{CDEEA1CC-8D3F-0319-147C-82C7AF97AFA9}"/>
              </a:ext>
            </a:extLst>
          </p:cNvPr>
          <p:cNvSpPr txBox="1"/>
          <p:nvPr/>
        </p:nvSpPr>
        <p:spPr>
          <a:xfrm>
            <a:off x="1185796" y="1409106"/>
            <a:ext cx="9820405" cy="646331"/>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p:spPr>
        <p:txBody>
          <a:bodyPr wrap="square">
            <a:spAutoFit/>
          </a:bodyPr>
          <a:lstStyle/>
          <a:p>
            <a:r>
              <a:rPr lang="en-US" sz="1800" b="1" i="1" dirty="0">
                <a:effectLst/>
                <a:latin typeface="Aptos" panose="020B0004020202020204" pitchFamily="34" charset="0"/>
              </a:rPr>
              <a:t>Research Question</a:t>
            </a:r>
            <a:r>
              <a:rPr lang="en-US" sz="1800" b="0" i="1" dirty="0">
                <a:effectLst/>
                <a:latin typeface="Aptos" panose="020B0004020202020204" pitchFamily="34" charset="0"/>
              </a:rPr>
              <a:t>: Is there a relationship between Waste Recycling (i.e. if someone recycles waste or not) and Income Level? </a:t>
            </a:r>
            <a:endParaRPr lang="en-PK" dirty="0"/>
          </a:p>
        </p:txBody>
      </p:sp>
      <p:sp>
        <p:nvSpPr>
          <p:cNvPr id="14" name="TextBox 13">
            <a:extLst>
              <a:ext uri="{FF2B5EF4-FFF2-40B4-BE49-F238E27FC236}">
                <a16:creationId xmlns:a16="http://schemas.microsoft.com/office/drawing/2014/main" id="{FD56728F-FC78-1351-C77B-27178F3AA312}"/>
              </a:ext>
            </a:extLst>
          </p:cNvPr>
          <p:cNvSpPr txBox="1"/>
          <p:nvPr/>
        </p:nvSpPr>
        <p:spPr>
          <a:xfrm>
            <a:off x="1185796" y="4047753"/>
            <a:ext cx="5474310" cy="1754326"/>
          </a:xfrm>
          <a:prstGeom prst="rect">
            <a:avLst/>
          </a:prstGeom>
          <a:noFill/>
          <a:ln>
            <a:solidFill>
              <a:schemeClr val="tx1"/>
            </a:solidFill>
          </a:ln>
        </p:spPr>
        <p:txBody>
          <a:bodyPr wrap="square">
            <a:spAutoFit/>
          </a:bodyPr>
          <a:lstStyle/>
          <a:p>
            <a:pPr algn="l" rtl="0" fontAlgn="base">
              <a:buFont typeface="Arial" panose="020B0604020202020204" pitchFamily="34" charset="0"/>
              <a:buChar char="•"/>
            </a:pPr>
            <a:r>
              <a:rPr lang="en-US" sz="1800" b="1" i="0" dirty="0">
                <a:effectLst/>
                <a:latin typeface="Aptos" panose="020B0004020202020204" pitchFamily="34" charset="0"/>
              </a:rPr>
              <a:t>H0</a:t>
            </a:r>
            <a:r>
              <a:rPr lang="en-US" sz="1800" b="0" i="0" dirty="0">
                <a:effectLst/>
                <a:latin typeface="Aptos" panose="020B0004020202020204" pitchFamily="34" charset="0"/>
              </a:rPr>
              <a:t>: The proportion of people who recycle waste is not significantly different regarding their income level. </a:t>
            </a:r>
          </a:p>
          <a:p>
            <a:pPr algn="l" rtl="0" fontAlgn="base">
              <a:buFont typeface="Arial" panose="020B0604020202020204" pitchFamily="34" charset="0"/>
              <a:buChar char="•"/>
            </a:pPr>
            <a:endParaRPr lang="en-US" sz="1800" b="0" i="0" dirty="0">
              <a:effectLst/>
              <a:latin typeface="Aptos" panose="020B0004020202020204" pitchFamily="34" charset="0"/>
            </a:endParaRPr>
          </a:p>
          <a:p>
            <a:pPr algn="l" rtl="0" fontAlgn="base">
              <a:buFont typeface="Arial" panose="020B0604020202020204" pitchFamily="34" charset="0"/>
              <a:buChar char="•"/>
            </a:pPr>
            <a:r>
              <a:rPr lang="en-US" sz="1800" b="1" i="0" dirty="0">
                <a:effectLst/>
                <a:latin typeface="Aptos" panose="020B0004020202020204" pitchFamily="34" charset="0"/>
              </a:rPr>
              <a:t>H1</a:t>
            </a:r>
            <a:r>
              <a:rPr lang="en-US" sz="1800" b="0" i="0" dirty="0">
                <a:effectLst/>
                <a:latin typeface="Aptos" panose="020B0004020202020204" pitchFamily="34" charset="0"/>
              </a:rPr>
              <a:t>: The proportion of people who recycle waste is significantly different regarding their income level. </a:t>
            </a:r>
          </a:p>
        </p:txBody>
      </p:sp>
      <p:pic>
        <p:nvPicPr>
          <p:cNvPr id="15362" name="Picture 2">
            <a:extLst>
              <a:ext uri="{FF2B5EF4-FFF2-40B4-BE49-F238E27FC236}">
                <a16:creationId xmlns:a16="http://schemas.microsoft.com/office/drawing/2014/main" id="{E27209C5-C61F-0ED8-248B-B25720DC95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5796" y="2274118"/>
            <a:ext cx="3633670" cy="133387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47B097A-B0CA-6D6A-4E17-20F863152B82}"/>
              </a:ext>
            </a:extLst>
          </p:cNvPr>
          <p:cNvSpPr txBox="1"/>
          <p:nvPr/>
        </p:nvSpPr>
        <p:spPr>
          <a:xfrm>
            <a:off x="1185796" y="6026648"/>
            <a:ext cx="4254689" cy="369332"/>
          </a:xfrm>
          <a:prstGeom prst="rect">
            <a:avLst/>
          </a:prstGeom>
          <a:noFill/>
          <a:ln>
            <a:solidFill>
              <a:schemeClr val="tx1"/>
            </a:solidFill>
          </a:ln>
        </p:spPr>
        <p:txBody>
          <a:bodyPr wrap="square">
            <a:spAutoFit/>
          </a:bodyPr>
          <a:lstStyle/>
          <a:p>
            <a:r>
              <a:rPr lang="en-US" b="0" i="0" dirty="0">
                <a:effectLst/>
                <a:latin typeface="Aptos" panose="020B0004020202020204" pitchFamily="34" charset="0"/>
              </a:rPr>
              <a:t>Since p = 2.2e-16, we </a:t>
            </a:r>
            <a:r>
              <a:rPr lang="en-US" b="1" i="0" dirty="0">
                <a:effectLst/>
                <a:latin typeface="Aptos" panose="020B0004020202020204" pitchFamily="34" charset="0"/>
              </a:rPr>
              <a:t>reject H0</a:t>
            </a:r>
            <a:r>
              <a:rPr lang="en-US" b="0" i="0" dirty="0">
                <a:effectLst/>
                <a:latin typeface="Aptos" panose="020B0004020202020204" pitchFamily="34" charset="0"/>
              </a:rPr>
              <a:t>.</a:t>
            </a:r>
            <a:endParaRPr lang="en-PK" dirty="0">
              <a:latin typeface="Aptos" panose="020B0004020202020204" pitchFamily="34" charset="0"/>
            </a:endParaRPr>
          </a:p>
        </p:txBody>
      </p:sp>
      <p:sp>
        <p:nvSpPr>
          <p:cNvPr id="7" name="TextBox 6">
            <a:extLst>
              <a:ext uri="{FF2B5EF4-FFF2-40B4-BE49-F238E27FC236}">
                <a16:creationId xmlns:a16="http://schemas.microsoft.com/office/drawing/2014/main" id="{57B963D9-9789-5BCA-900E-C1D99FF3CD2F}"/>
              </a:ext>
            </a:extLst>
          </p:cNvPr>
          <p:cNvSpPr txBox="1"/>
          <p:nvPr/>
        </p:nvSpPr>
        <p:spPr>
          <a:xfrm>
            <a:off x="7252498" y="3609935"/>
            <a:ext cx="3258402" cy="2308324"/>
          </a:xfrm>
          <a:prstGeom prst="rect">
            <a:avLst/>
          </a:prstGeom>
          <a:gradFill flip="none" rotWithShape="1">
            <a:gsLst>
              <a:gs pos="0">
                <a:srgbClr val="517141">
                  <a:shade val="30000"/>
                  <a:satMod val="115000"/>
                </a:srgbClr>
              </a:gs>
              <a:gs pos="50000">
                <a:srgbClr val="517141">
                  <a:shade val="67500"/>
                  <a:satMod val="115000"/>
                </a:srgbClr>
              </a:gs>
              <a:gs pos="100000">
                <a:srgbClr val="517141">
                  <a:shade val="100000"/>
                  <a:satMod val="115000"/>
                </a:srgbClr>
              </a:gs>
            </a:gsLst>
            <a:lin ang="16200000" scaled="1"/>
            <a:tileRect/>
          </a:gradFill>
        </p:spPr>
        <p:txBody>
          <a:bodyPr wrap="square">
            <a:spAutoFit/>
          </a:bodyPr>
          <a:lstStyle/>
          <a:p>
            <a:r>
              <a:rPr lang="en-US" sz="1800" b="0" i="0" dirty="0">
                <a:effectLst/>
                <a:latin typeface="Aptos" panose="020B0004020202020204" pitchFamily="34" charset="0"/>
              </a:rPr>
              <a:t>If we also do a Chi-Squared test comparing the relationship between the Environmental Awareness Score and Income level, we also get a p = 2.2e-16, further suggesting a socioeconomic factor coming into play. </a:t>
            </a:r>
            <a:endParaRPr lang="en-PK" dirty="0"/>
          </a:p>
        </p:txBody>
      </p:sp>
      <p:pic>
        <p:nvPicPr>
          <p:cNvPr id="5" name="Picture 4">
            <a:extLst>
              <a:ext uri="{FF2B5EF4-FFF2-40B4-BE49-F238E27FC236}">
                <a16:creationId xmlns:a16="http://schemas.microsoft.com/office/drawing/2014/main" id="{DF650B4F-3D91-47EE-5162-9BDC863FF324}"/>
              </a:ext>
            </a:extLst>
          </p:cNvPr>
          <p:cNvPicPr>
            <a:picLocks noChangeAspect="1"/>
          </p:cNvPicPr>
          <p:nvPr/>
        </p:nvPicPr>
        <p:blipFill>
          <a:blip r:embed="rId3"/>
          <a:stretch>
            <a:fillRect/>
          </a:stretch>
        </p:blipFill>
        <p:spPr>
          <a:xfrm>
            <a:off x="4959166" y="2778481"/>
            <a:ext cx="6215393" cy="325152"/>
          </a:xfrm>
          <a:prstGeom prst="rect">
            <a:avLst/>
          </a:prstGeom>
        </p:spPr>
      </p:pic>
      <p:pic>
        <p:nvPicPr>
          <p:cNvPr id="9" name="Picture 8">
            <a:extLst>
              <a:ext uri="{FF2B5EF4-FFF2-40B4-BE49-F238E27FC236}">
                <a16:creationId xmlns:a16="http://schemas.microsoft.com/office/drawing/2014/main" id="{AA54E3AE-05F6-C62D-DF2B-FB02F46A5D36}"/>
              </a:ext>
            </a:extLst>
          </p:cNvPr>
          <p:cNvPicPr>
            <a:picLocks noChangeAspect="1"/>
          </p:cNvPicPr>
          <p:nvPr/>
        </p:nvPicPr>
        <p:blipFill>
          <a:blip r:embed="rId4"/>
          <a:stretch>
            <a:fillRect/>
          </a:stretch>
        </p:blipFill>
        <p:spPr>
          <a:xfrm>
            <a:off x="6495354" y="6279799"/>
            <a:ext cx="4772691" cy="266737"/>
          </a:xfrm>
          <a:prstGeom prst="rect">
            <a:avLst/>
          </a:prstGeom>
        </p:spPr>
      </p:pic>
      <p:cxnSp>
        <p:nvCxnSpPr>
          <p:cNvPr id="11" name="Straight Arrow Connector 10">
            <a:extLst>
              <a:ext uri="{FF2B5EF4-FFF2-40B4-BE49-F238E27FC236}">
                <a16:creationId xmlns:a16="http://schemas.microsoft.com/office/drawing/2014/main" id="{2E2A2B9A-8AD5-AE26-EADC-9E4DC07026EA}"/>
              </a:ext>
            </a:extLst>
          </p:cNvPr>
          <p:cNvCxnSpPr>
            <a:cxnSpLocks/>
          </p:cNvCxnSpPr>
          <p:nvPr/>
        </p:nvCxnSpPr>
        <p:spPr>
          <a:xfrm>
            <a:off x="8881699" y="5685898"/>
            <a:ext cx="0" cy="593901"/>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4947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27596-3605-D19A-22D7-863B0451188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E39E661-ACA8-A912-2A49-6775931792E8}"/>
              </a:ext>
            </a:extLst>
          </p:cNvPr>
          <p:cNvSpPr/>
          <p:nvPr/>
        </p:nvSpPr>
        <p:spPr>
          <a:xfrm>
            <a:off x="1185797" y="425885"/>
            <a:ext cx="9820405" cy="851770"/>
          </a:xfrm>
          <a:prstGeom prst="rect">
            <a:avLst/>
          </a:prstGeom>
          <a:gradFill flip="none" rotWithShape="1">
            <a:gsLst>
              <a:gs pos="0">
                <a:srgbClr val="335F20">
                  <a:shade val="30000"/>
                  <a:satMod val="115000"/>
                </a:srgbClr>
              </a:gs>
              <a:gs pos="50000">
                <a:srgbClr val="335F20">
                  <a:shade val="67500"/>
                  <a:satMod val="115000"/>
                </a:srgbClr>
              </a:gs>
              <a:gs pos="100000">
                <a:srgbClr val="335F20">
                  <a:shade val="100000"/>
                  <a:satMod val="115000"/>
                </a:srgbClr>
              </a:gs>
            </a:gsLst>
            <a:path path="circle">
              <a:fillToRect l="100000" b="100000"/>
            </a:path>
            <a:tileRect t="-100000" r="-100000"/>
          </a:gra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i="0" dirty="0">
                <a:solidFill>
                  <a:schemeClr val="tx1"/>
                </a:solidFill>
                <a:effectLst/>
                <a:latin typeface="Aptos" panose="020B0004020202020204" pitchFamily="34" charset="0"/>
              </a:rPr>
              <a:t>Regression Models &amp; Interpretation - Simple Linear Regression </a:t>
            </a:r>
            <a:endParaRPr lang="en-PK" sz="3200" dirty="0">
              <a:solidFill>
                <a:schemeClr val="tx1"/>
              </a:solidFill>
            </a:endParaRPr>
          </a:p>
        </p:txBody>
      </p:sp>
      <p:sp>
        <p:nvSpPr>
          <p:cNvPr id="5" name="TextBox 4">
            <a:extLst>
              <a:ext uri="{FF2B5EF4-FFF2-40B4-BE49-F238E27FC236}">
                <a16:creationId xmlns:a16="http://schemas.microsoft.com/office/drawing/2014/main" id="{2D12128E-F45C-E88C-0F70-72D1F103D37D}"/>
              </a:ext>
            </a:extLst>
          </p:cNvPr>
          <p:cNvSpPr txBox="1"/>
          <p:nvPr/>
        </p:nvSpPr>
        <p:spPr>
          <a:xfrm>
            <a:off x="1185795" y="1418947"/>
            <a:ext cx="9820405" cy="646331"/>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8900000" scaled="1"/>
            <a:tileRect/>
          </a:gradFill>
          <a:ln>
            <a:solidFill>
              <a:schemeClr val="tx1"/>
            </a:solidFill>
          </a:ln>
        </p:spPr>
        <p:txBody>
          <a:bodyPr wrap="square">
            <a:spAutoFit/>
          </a:bodyPr>
          <a:lstStyle/>
          <a:p>
            <a:pPr algn="l" rtl="0" fontAlgn="base"/>
            <a:r>
              <a:rPr lang="en-US" sz="1800" b="1" i="0" dirty="0">
                <a:effectLst/>
                <a:latin typeface="Aptos" panose="020B0004020202020204" pitchFamily="34" charset="0"/>
              </a:rPr>
              <a:t>Plotting Linear Regression model of Electricity Usage (X) with Gas </a:t>
            </a:r>
            <a:r>
              <a:rPr lang="en-US" b="1" dirty="0">
                <a:latin typeface="Aptos" panose="020B0004020202020204" pitchFamily="34" charset="0"/>
              </a:rPr>
              <a:t>U</a:t>
            </a:r>
            <a:r>
              <a:rPr lang="en-US" sz="1800" b="1" i="0" dirty="0">
                <a:effectLst/>
                <a:latin typeface="Aptos" panose="020B0004020202020204" pitchFamily="34" charset="0"/>
              </a:rPr>
              <a:t>sage (Y) to figure relation between them.</a:t>
            </a:r>
          </a:p>
        </p:txBody>
      </p:sp>
      <p:pic>
        <p:nvPicPr>
          <p:cNvPr id="3" name="Picture 2">
            <a:extLst>
              <a:ext uri="{FF2B5EF4-FFF2-40B4-BE49-F238E27FC236}">
                <a16:creationId xmlns:a16="http://schemas.microsoft.com/office/drawing/2014/main" id="{E23C1430-815B-072A-D04B-CCCE159BEB0E}"/>
              </a:ext>
            </a:extLst>
          </p:cNvPr>
          <p:cNvPicPr>
            <a:picLocks noChangeAspect="1"/>
          </p:cNvPicPr>
          <p:nvPr/>
        </p:nvPicPr>
        <p:blipFill>
          <a:blip r:embed="rId2"/>
          <a:stretch>
            <a:fillRect/>
          </a:stretch>
        </p:blipFill>
        <p:spPr>
          <a:xfrm>
            <a:off x="1812097" y="2206570"/>
            <a:ext cx="8567805" cy="281749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1DDF5EF-1CE7-CBFB-4F74-242CDFC345BF}"/>
                  </a:ext>
                </a:extLst>
              </p:cNvPr>
              <p:cNvSpPr txBox="1"/>
              <p:nvPr/>
            </p:nvSpPr>
            <p:spPr>
              <a:xfrm>
                <a:off x="1185795" y="5675976"/>
                <a:ext cx="9820405" cy="929550"/>
              </a:xfrm>
              <a:prstGeom prst="rect">
                <a:avLst/>
              </a:prstGeom>
              <a:noFill/>
              <a:ln>
                <a:solidFill>
                  <a:schemeClr val="tx1"/>
                </a:solidFill>
              </a:ln>
            </p:spPr>
            <p:txBody>
              <a:bodyPr wrap="square">
                <a:spAutoFit/>
              </a:bodyPr>
              <a:lstStyle/>
              <a:p>
                <a:r>
                  <a:rPr lang="en-US" dirty="0">
                    <a:latin typeface="Aptos" panose="020B0004020202020204" pitchFamily="34" charset="0"/>
                  </a:rPr>
                  <a:t>With an </a:t>
                </a:r>
                <a14:m>
                  <m:oMath xmlns:m="http://schemas.openxmlformats.org/officeDocument/2006/math">
                    <m:sSup>
                      <m:sSupPr>
                        <m:ctrlPr>
                          <a:rPr lang="es-EC"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2</m:t>
                        </m:r>
                      </m:sup>
                    </m:sSup>
                  </m:oMath>
                </a14:m>
                <a:r>
                  <a:rPr lang="en-US" dirty="0">
                    <a:latin typeface="Aptos" panose="020B0004020202020204" pitchFamily="34" charset="0"/>
                  </a:rPr>
                  <a:t> of 0.9084, we can affirm that 90.84% of the data variation in Gas Usage is explained by the Electricity Usage. By taking the square root, we obtain that the correlation coefficient (</a:t>
                </a:r>
                <a14:m>
                  <m:oMath xmlns:m="http://schemas.openxmlformats.org/officeDocument/2006/math">
                    <m:r>
                      <a:rPr lang="en-US" i="1">
                        <a:latin typeface="Cambria Math" panose="02040503050406030204" pitchFamily="18" charset="0"/>
                      </a:rPr>
                      <m:t>𝑅</m:t>
                    </m:r>
                  </m:oMath>
                </a14:m>
                <a:r>
                  <a:rPr lang="en-US" dirty="0">
                    <a:latin typeface="Aptos" panose="020B0004020202020204" pitchFamily="34" charset="0"/>
                  </a:rPr>
                  <a:t>) is 0.9531, making it a very strong positive correlation.</a:t>
                </a:r>
                <a:endParaRPr lang="es-EC" dirty="0">
                  <a:latin typeface="Aptos" panose="020B0004020202020204" pitchFamily="34" charset="0"/>
                </a:endParaRPr>
              </a:p>
            </p:txBody>
          </p:sp>
        </mc:Choice>
        <mc:Fallback xmlns="">
          <p:sp>
            <p:nvSpPr>
              <p:cNvPr id="4" name="TextBox 3">
                <a:extLst>
                  <a:ext uri="{FF2B5EF4-FFF2-40B4-BE49-F238E27FC236}">
                    <a16:creationId xmlns:a16="http://schemas.microsoft.com/office/drawing/2014/main" id="{61DDF5EF-1CE7-CBFB-4F74-242CDFC345BF}"/>
                  </a:ext>
                </a:extLst>
              </p:cNvPr>
              <p:cNvSpPr txBox="1">
                <a:spLocks noRot="1" noChangeAspect="1" noMove="1" noResize="1" noEditPoints="1" noAdjustHandles="1" noChangeArrowheads="1" noChangeShapeType="1" noTextEdit="1"/>
              </p:cNvSpPr>
              <p:nvPr/>
            </p:nvSpPr>
            <p:spPr>
              <a:xfrm>
                <a:off x="1185795" y="5675976"/>
                <a:ext cx="9820405" cy="929550"/>
              </a:xfrm>
              <a:prstGeom prst="rect">
                <a:avLst/>
              </a:prstGeom>
              <a:blipFill>
                <a:blip r:embed="rId3"/>
                <a:stretch>
                  <a:fillRect l="-496" t="-1290" b="-9032"/>
                </a:stretch>
              </a:blipFill>
              <a:ln>
                <a:solidFill>
                  <a:schemeClr val="tx1"/>
                </a:solidFill>
              </a:ln>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606ED38-655C-9E0B-1EF4-4DEA66242FAB}"/>
                  </a:ext>
                </a:extLst>
              </p:cNvPr>
              <p:cNvSpPr txBox="1"/>
              <p:nvPr/>
            </p:nvSpPr>
            <p:spPr>
              <a:xfrm>
                <a:off x="3019425" y="5150861"/>
                <a:ext cx="6153150"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C" sz="2000" i="1" smtClean="0">
                          <a:latin typeface="Cambria Math" panose="02040503050406030204" pitchFamily="18" charset="0"/>
                        </a:rPr>
                        <m:t>𝑦</m:t>
                      </m:r>
                      <m:r>
                        <a:rPr lang="es-EC" sz="2000" i="0">
                          <a:latin typeface="Cambria Math" panose="02040503050406030204" pitchFamily="18" charset="0"/>
                        </a:rPr>
                        <m:t> = </m:t>
                      </m:r>
                      <m:r>
                        <a:rPr lang="es-EC" sz="2000" i="1">
                          <a:latin typeface="Cambria Math" panose="02040503050406030204" pitchFamily="18" charset="0"/>
                        </a:rPr>
                        <m:t>𝑚</m:t>
                      </m:r>
                      <m:d>
                        <m:dPr>
                          <m:ctrlPr>
                            <a:rPr lang="es-EC" sz="2000" i="1">
                              <a:latin typeface="Cambria Math" panose="02040503050406030204" pitchFamily="18" charset="0"/>
                            </a:rPr>
                          </m:ctrlPr>
                        </m:dPr>
                        <m:e>
                          <m:r>
                            <a:rPr lang="es-EC" sz="2000" i="1">
                              <a:latin typeface="Cambria Math" panose="02040503050406030204" pitchFamily="18" charset="0"/>
                            </a:rPr>
                            <m:t>𝑥</m:t>
                          </m:r>
                        </m:e>
                      </m:d>
                      <m:r>
                        <a:rPr lang="es-EC" sz="2000" i="0">
                          <a:latin typeface="Cambria Math" panose="02040503050406030204" pitchFamily="18" charset="0"/>
                        </a:rPr>
                        <m:t>+ </m:t>
                      </m:r>
                      <m:r>
                        <a:rPr lang="es-EC" sz="2000" i="1">
                          <a:latin typeface="Cambria Math" panose="02040503050406030204" pitchFamily="18" charset="0"/>
                        </a:rPr>
                        <m:t>𝑏</m:t>
                      </m:r>
                      <m:r>
                        <a:rPr lang="es-EC" sz="2000" i="0">
                          <a:latin typeface="Cambria Math" panose="02040503050406030204" pitchFamily="18" charset="0"/>
                        </a:rPr>
                        <m:t>→ </m:t>
                      </m:r>
                      <m:r>
                        <a:rPr lang="es-EC" sz="2000" i="1">
                          <a:latin typeface="Cambria Math" panose="02040503050406030204" pitchFamily="18" charset="0"/>
                        </a:rPr>
                        <m:t>𝑦</m:t>
                      </m:r>
                      <m:r>
                        <a:rPr lang="es-EC" sz="2000" i="0">
                          <a:latin typeface="Cambria Math" panose="02040503050406030204" pitchFamily="18" charset="0"/>
                        </a:rPr>
                        <m:t> = 0.046183</m:t>
                      </m:r>
                      <m:d>
                        <m:dPr>
                          <m:ctrlPr>
                            <a:rPr lang="es-EC" sz="2000" i="1">
                              <a:latin typeface="Cambria Math" panose="02040503050406030204" pitchFamily="18" charset="0"/>
                            </a:rPr>
                          </m:ctrlPr>
                        </m:dPr>
                        <m:e>
                          <m:r>
                            <a:rPr lang="es-EC" sz="2000" i="1">
                              <a:latin typeface="Cambria Math" panose="02040503050406030204" pitchFamily="18" charset="0"/>
                            </a:rPr>
                            <m:t>𝑥</m:t>
                          </m:r>
                        </m:e>
                      </m:d>
                      <m:r>
                        <a:rPr lang="es-EC" sz="2000" i="0">
                          <a:latin typeface="Cambria Math" panose="02040503050406030204" pitchFamily="18" charset="0"/>
                        </a:rPr>
                        <m:t> + 0.521428</m:t>
                      </m:r>
                    </m:oMath>
                  </m:oMathPara>
                </a14:m>
                <a:endParaRPr lang="es-EC" sz="2000" dirty="0"/>
              </a:p>
            </p:txBody>
          </p:sp>
        </mc:Choice>
        <mc:Fallback xmlns="">
          <p:sp>
            <p:nvSpPr>
              <p:cNvPr id="7" name="TextBox 6">
                <a:extLst>
                  <a:ext uri="{FF2B5EF4-FFF2-40B4-BE49-F238E27FC236}">
                    <a16:creationId xmlns:a16="http://schemas.microsoft.com/office/drawing/2014/main" id="{4606ED38-655C-9E0B-1EF4-4DEA66242FAB}"/>
                  </a:ext>
                </a:extLst>
              </p:cNvPr>
              <p:cNvSpPr txBox="1">
                <a:spLocks noRot="1" noChangeAspect="1" noMove="1" noResize="1" noEditPoints="1" noAdjustHandles="1" noChangeArrowheads="1" noChangeShapeType="1" noTextEdit="1"/>
              </p:cNvSpPr>
              <p:nvPr/>
            </p:nvSpPr>
            <p:spPr>
              <a:xfrm>
                <a:off x="3019425" y="5150861"/>
                <a:ext cx="6153150" cy="400110"/>
              </a:xfrm>
              <a:prstGeom prst="rect">
                <a:avLst/>
              </a:prstGeom>
              <a:blipFill>
                <a:blip r:embed="rId4"/>
                <a:stretch>
                  <a:fillRect b="-9091"/>
                </a:stretch>
              </a:blipFill>
            </p:spPr>
            <p:txBody>
              <a:bodyPr/>
              <a:lstStyle/>
              <a:p>
                <a:r>
                  <a:rPr lang="es-EC">
                    <a:noFill/>
                  </a:rPr>
                  <a:t> </a:t>
                </a:r>
              </a:p>
            </p:txBody>
          </p:sp>
        </mc:Fallback>
      </mc:AlternateContent>
      <p:sp>
        <p:nvSpPr>
          <p:cNvPr id="8" name="Rectangle 7">
            <a:extLst>
              <a:ext uri="{FF2B5EF4-FFF2-40B4-BE49-F238E27FC236}">
                <a16:creationId xmlns:a16="http://schemas.microsoft.com/office/drawing/2014/main" id="{10B044BE-CFC0-2492-C691-188E82C23722}"/>
              </a:ext>
            </a:extLst>
          </p:cNvPr>
          <p:cNvSpPr/>
          <p:nvPr/>
        </p:nvSpPr>
        <p:spPr>
          <a:xfrm>
            <a:off x="4339573" y="2774698"/>
            <a:ext cx="1210328" cy="635457"/>
          </a:xfrm>
          <a:prstGeom prst="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9" name="Rectangle 8">
            <a:extLst>
              <a:ext uri="{FF2B5EF4-FFF2-40B4-BE49-F238E27FC236}">
                <a16:creationId xmlns:a16="http://schemas.microsoft.com/office/drawing/2014/main" id="{F39482F4-F69B-44E7-BDD0-AC1F6D48B675}"/>
              </a:ext>
            </a:extLst>
          </p:cNvPr>
          <p:cNvSpPr/>
          <p:nvPr/>
        </p:nvSpPr>
        <p:spPr>
          <a:xfrm>
            <a:off x="8073373" y="2755853"/>
            <a:ext cx="1210327" cy="654302"/>
          </a:xfrm>
          <a:prstGeom prst="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0" name="Rectangle 9">
            <a:extLst>
              <a:ext uri="{FF2B5EF4-FFF2-40B4-BE49-F238E27FC236}">
                <a16:creationId xmlns:a16="http://schemas.microsoft.com/office/drawing/2014/main" id="{E1C1EC2B-41EF-534E-008E-4D3C13525C60}"/>
              </a:ext>
            </a:extLst>
          </p:cNvPr>
          <p:cNvSpPr/>
          <p:nvPr/>
        </p:nvSpPr>
        <p:spPr>
          <a:xfrm>
            <a:off x="4606273" y="4368565"/>
            <a:ext cx="1070627" cy="330435"/>
          </a:xfrm>
          <a:prstGeom prst="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1" name="Rectangle 10">
            <a:extLst>
              <a:ext uri="{FF2B5EF4-FFF2-40B4-BE49-F238E27FC236}">
                <a16:creationId xmlns:a16="http://schemas.microsoft.com/office/drawing/2014/main" id="{55305191-48DB-C9B8-0792-C9AE026E25DB}"/>
              </a:ext>
            </a:extLst>
          </p:cNvPr>
          <p:cNvSpPr/>
          <p:nvPr/>
        </p:nvSpPr>
        <p:spPr>
          <a:xfrm>
            <a:off x="8748386" y="4659686"/>
            <a:ext cx="1360814" cy="330435"/>
          </a:xfrm>
          <a:prstGeom prst="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751540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C765D2-45AF-971C-B597-B708587E45C2}"/>
              </a:ext>
            </a:extLst>
          </p:cNvPr>
          <p:cNvSpPr/>
          <p:nvPr/>
        </p:nvSpPr>
        <p:spPr>
          <a:xfrm>
            <a:off x="1185797" y="425885"/>
            <a:ext cx="9820405" cy="851770"/>
          </a:xfrm>
          <a:prstGeom prst="rect">
            <a:avLst/>
          </a:prstGeom>
          <a:gradFill flip="none" rotWithShape="1">
            <a:gsLst>
              <a:gs pos="0">
                <a:srgbClr val="335F20">
                  <a:shade val="30000"/>
                  <a:satMod val="115000"/>
                </a:srgbClr>
              </a:gs>
              <a:gs pos="50000">
                <a:srgbClr val="335F20">
                  <a:shade val="67500"/>
                  <a:satMod val="115000"/>
                </a:srgbClr>
              </a:gs>
              <a:gs pos="100000">
                <a:srgbClr val="335F20">
                  <a:shade val="100000"/>
                  <a:satMod val="115000"/>
                </a:srgbClr>
              </a:gs>
            </a:gsLst>
            <a:path path="circle">
              <a:fillToRect l="100000" b="100000"/>
            </a:path>
            <a:tileRect t="-100000" r="-100000"/>
          </a:gra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i="0" dirty="0">
                <a:solidFill>
                  <a:schemeClr val="tx1"/>
                </a:solidFill>
                <a:effectLst/>
                <a:latin typeface="Aptos" panose="020B0004020202020204" pitchFamily="34" charset="0"/>
              </a:rPr>
              <a:t>Regression Models &amp; Interpretation - Multiple Linear Regression</a:t>
            </a:r>
            <a:endParaRPr lang="en-PK" sz="3200" dirty="0">
              <a:solidFill>
                <a:schemeClr val="tx1"/>
              </a:solidFill>
            </a:endParaRPr>
          </a:p>
        </p:txBody>
      </p:sp>
      <p:sp>
        <p:nvSpPr>
          <p:cNvPr id="5" name="TextBox 4">
            <a:extLst>
              <a:ext uri="{FF2B5EF4-FFF2-40B4-BE49-F238E27FC236}">
                <a16:creationId xmlns:a16="http://schemas.microsoft.com/office/drawing/2014/main" id="{26FBF433-893C-E573-36A9-25E638075918}"/>
              </a:ext>
            </a:extLst>
          </p:cNvPr>
          <p:cNvSpPr txBox="1"/>
          <p:nvPr/>
        </p:nvSpPr>
        <p:spPr>
          <a:xfrm>
            <a:off x="1185795" y="1418947"/>
            <a:ext cx="9820405" cy="646331"/>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8900000" scaled="1"/>
            <a:tileRect/>
          </a:gradFill>
          <a:ln>
            <a:solidFill>
              <a:schemeClr val="tx1"/>
            </a:solidFill>
          </a:ln>
        </p:spPr>
        <p:txBody>
          <a:bodyPr wrap="square">
            <a:spAutoFit/>
          </a:bodyPr>
          <a:lstStyle/>
          <a:p>
            <a:pPr algn="l" rtl="0" fontAlgn="base"/>
            <a:r>
              <a:rPr lang="en-US" sz="1800" b="1" i="0" dirty="0">
                <a:effectLst/>
                <a:latin typeface="Aptos" panose="020B0004020202020204" pitchFamily="34" charset="0"/>
              </a:rPr>
              <a:t>Plotting Multiple Linear Regression model of Electricity </a:t>
            </a:r>
            <a:r>
              <a:rPr lang="en-US" b="1" dirty="0">
                <a:latin typeface="Aptos" panose="020B0004020202020204" pitchFamily="34" charset="0"/>
              </a:rPr>
              <a:t>U</a:t>
            </a:r>
            <a:r>
              <a:rPr lang="en-US" sz="1800" b="1" i="0" dirty="0">
                <a:effectLst/>
                <a:latin typeface="Aptos" panose="020B0004020202020204" pitchFamily="34" charset="0"/>
              </a:rPr>
              <a:t>sage with Carbon Footprint to figure relation between them.</a:t>
            </a:r>
          </a:p>
        </p:txBody>
      </p:sp>
      <p:pic>
        <p:nvPicPr>
          <p:cNvPr id="3" name="Picture 2">
            <a:extLst>
              <a:ext uri="{FF2B5EF4-FFF2-40B4-BE49-F238E27FC236}">
                <a16:creationId xmlns:a16="http://schemas.microsoft.com/office/drawing/2014/main" id="{897609AC-B069-FFC1-4F60-72A039B829C7}"/>
              </a:ext>
            </a:extLst>
          </p:cNvPr>
          <p:cNvPicPr>
            <a:picLocks noChangeAspect="1"/>
          </p:cNvPicPr>
          <p:nvPr/>
        </p:nvPicPr>
        <p:blipFill>
          <a:blip r:embed="rId2"/>
          <a:stretch>
            <a:fillRect/>
          </a:stretch>
        </p:blipFill>
        <p:spPr>
          <a:xfrm>
            <a:off x="199097" y="2206570"/>
            <a:ext cx="8568000" cy="3122377"/>
          </a:xfrm>
          <a:prstGeom prst="rect">
            <a:avLst/>
          </a:prstGeom>
        </p:spPr>
      </p:pic>
      <p:sp>
        <p:nvSpPr>
          <p:cNvPr id="6" name="Rectangle 5">
            <a:extLst>
              <a:ext uri="{FF2B5EF4-FFF2-40B4-BE49-F238E27FC236}">
                <a16:creationId xmlns:a16="http://schemas.microsoft.com/office/drawing/2014/main" id="{B5ADA547-0B77-E0A1-55FF-A54866EA74DB}"/>
              </a:ext>
            </a:extLst>
          </p:cNvPr>
          <p:cNvSpPr/>
          <p:nvPr/>
        </p:nvSpPr>
        <p:spPr>
          <a:xfrm>
            <a:off x="2628900" y="2774698"/>
            <a:ext cx="1308101" cy="870202"/>
          </a:xfrm>
          <a:prstGeom prst="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8" name="Rectangle 7">
            <a:extLst>
              <a:ext uri="{FF2B5EF4-FFF2-40B4-BE49-F238E27FC236}">
                <a16:creationId xmlns:a16="http://schemas.microsoft.com/office/drawing/2014/main" id="{0EAE732E-33EB-1404-A6B4-796BFB67A777}"/>
              </a:ext>
            </a:extLst>
          </p:cNvPr>
          <p:cNvSpPr/>
          <p:nvPr/>
        </p:nvSpPr>
        <p:spPr>
          <a:xfrm>
            <a:off x="6515100" y="2774698"/>
            <a:ext cx="1308101" cy="870202"/>
          </a:xfrm>
          <a:prstGeom prst="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9" name="Rectangle 8">
            <a:extLst>
              <a:ext uri="{FF2B5EF4-FFF2-40B4-BE49-F238E27FC236}">
                <a16:creationId xmlns:a16="http://schemas.microsoft.com/office/drawing/2014/main" id="{3A806895-A658-F1FE-7C82-FC19FEFAEACC}"/>
              </a:ext>
            </a:extLst>
          </p:cNvPr>
          <p:cNvSpPr/>
          <p:nvPr/>
        </p:nvSpPr>
        <p:spPr>
          <a:xfrm>
            <a:off x="2997200" y="4635500"/>
            <a:ext cx="939801" cy="368300"/>
          </a:xfrm>
          <a:prstGeom prst="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0" name="Rectangle 9">
            <a:extLst>
              <a:ext uri="{FF2B5EF4-FFF2-40B4-BE49-F238E27FC236}">
                <a16:creationId xmlns:a16="http://schemas.microsoft.com/office/drawing/2014/main" id="{CCB92151-DD97-8B7B-DFA2-3F8DAEFB9C0B}"/>
              </a:ext>
            </a:extLst>
          </p:cNvPr>
          <p:cNvSpPr/>
          <p:nvPr/>
        </p:nvSpPr>
        <p:spPr>
          <a:xfrm>
            <a:off x="6553201" y="4960647"/>
            <a:ext cx="1435099" cy="368300"/>
          </a:xfrm>
          <a:prstGeom prst="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59E046A-F185-9A9D-DAB4-453668C4DC6C}"/>
                  </a:ext>
                </a:extLst>
              </p:cNvPr>
              <p:cNvSpPr txBox="1"/>
              <p:nvPr/>
            </p:nvSpPr>
            <p:spPr>
              <a:xfrm>
                <a:off x="9018587" y="4146392"/>
                <a:ext cx="2843214" cy="1200329"/>
              </a:xfrm>
              <a:prstGeom prst="rect">
                <a:avLst/>
              </a:prstGeom>
              <a:solidFill>
                <a:schemeClr val="bg1">
                  <a:lumMod val="85000"/>
                  <a:lumOff val="15000"/>
                </a:schemeClr>
              </a:solidFill>
            </p:spPr>
            <p:txBody>
              <a:bodyPr wrap="square">
                <a:spAutoFit/>
              </a:bodyPr>
              <a:lstStyle/>
              <a:p>
                <a:pPr marL="342900" lvl="0" indent="-342900">
                  <a:buFont typeface="Symbol" panose="05050102010706020507" pitchFamily="18" charset="2"/>
                  <a:buChar char=""/>
                </a:pPr>
                <a14:m>
                  <m:oMath xmlns:m="http://schemas.openxmlformats.org/officeDocument/2006/math">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𝑥</m:t>
                    </m:r>
                  </m:oMath>
                </a14:m>
                <a:r>
                  <a:rPr lang="en-US" sz="1800" dirty="0">
                    <a:effectLst/>
                    <a:latin typeface="Aptos" panose="020B0004020202020204" pitchFamily="34" charset="0"/>
                    <a:ea typeface="Calibri" panose="020F0502020204030204" pitchFamily="34" charset="0"/>
                    <a:cs typeface="Times New Roman" panose="02020603050405020304" pitchFamily="18" charset="0"/>
                  </a:rPr>
                  <a:t> = Electricity Usage (kWh)</a:t>
                </a:r>
                <a:endParaRPr lang="es-EC" sz="1800" dirty="0">
                  <a:effectLst/>
                  <a:latin typeface="Aptos" panose="020B0004020202020204" pitchFamily="34" charset="0"/>
                  <a:ea typeface="Calibri" panose="020F0502020204030204" pitchFamily="34" charset="0"/>
                  <a:cs typeface="Times New Roman" panose="02020603050405020304" pitchFamily="18" charset="0"/>
                </a:endParaRPr>
              </a:p>
              <a:p>
                <a:pPr marL="342900" lvl="0" indent="-342900">
                  <a:spcAft>
                    <a:spcPts val="1200"/>
                  </a:spcAft>
                  <a:buFont typeface="Symbol" panose="05050102010706020507" pitchFamily="18" charset="2"/>
                  <a:buChar char=""/>
                </a:pPr>
                <a14:m>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𝑧</m:t>
                    </m:r>
                  </m:oMath>
                </a14:m>
                <a:r>
                  <a:rPr lang="en-US" sz="1800" dirty="0">
                    <a:effectLst/>
                    <a:latin typeface="Aptos" panose="020B0004020202020204" pitchFamily="34" charset="0"/>
                    <a:ea typeface="Calibri" panose="020F0502020204030204" pitchFamily="34" charset="0"/>
                    <a:cs typeface="Times New Roman" panose="02020603050405020304" pitchFamily="18" charset="0"/>
                  </a:rPr>
                  <a:t> = Carbon Footprint (tons/year)</a:t>
                </a:r>
                <a:endParaRPr lang="es-EC" sz="1800" dirty="0">
                  <a:effectLst/>
                  <a:latin typeface="Aptos" panose="020B0004020202020204" pitchFamily="34" charset="0"/>
                  <a:ea typeface="Calibri" panose="020F0502020204030204" pitchFamily="34"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A59E046A-F185-9A9D-DAB4-453668C4DC6C}"/>
                  </a:ext>
                </a:extLst>
              </p:cNvPr>
              <p:cNvSpPr txBox="1">
                <a:spLocks noRot="1" noChangeAspect="1" noMove="1" noResize="1" noEditPoints="1" noAdjustHandles="1" noChangeArrowheads="1" noChangeShapeType="1" noTextEdit="1"/>
              </p:cNvSpPr>
              <p:nvPr/>
            </p:nvSpPr>
            <p:spPr>
              <a:xfrm>
                <a:off x="9018587" y="4146392"/>
                <a:ext cx="2843214" cy="1200329"/>
              </a:xfrm>
              <a:prstGeom prst="rect">
                <a:avLst/>
              </a:prstGeom>
              <a:blipFill>
                <a:blip r:embed="rId3"/>
                <a:stretch>
                  <a:fillRect l="-1713" t="-3553" b="-7614"/>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6F3F6DA-4686-D197-B2EE-21A3ABDCA6CD}"/>
                  </a:ext>
                </a:extLst>
              </p:cNvPr>
              <p:cNvSpPr txBox="1"/>
              <p:nvPr/>
            </p:nvSpPr>
            <p:spPr>
              <a:xfrm>
                <a:off x="9018586" y="2222899"/>
                <a:ext cx="2946400" cy="369332"/>
              </a:xfrm>
              <a:prstGeom prst="rect">
                <a:avLst/>
              </a:prstGeom>
              <a:solidFill>
                <a:schemeClr val="bg1">
                  <a:lumMod val="85000"/>
                  <a:lumOff val="15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r>
                        <a:rPr lang="es-EC" i="1">
                          <a:latin typeface="Cambria Math" panose="02040503050406030204" pitchFamily="18" charset="0"/>
                        </a:rPr>
                        <m:t>𝑦</m:t>
                      </m:r>
                      <m:r>
                        <a:rPr lang="es-EC" i="1">
                          <a:latin typeface="Cambria Math" panose="02040503050406030204" pitchFamily="18" charset="0"/>
                        </a:rPr>
                        <m:t> = </m:t>
                      </m:r>
                      <m:sSub>
                        <m:sSubPr>
                          <m:ctrlPr>
                            <a:rPr lang="es-EC" i="1">
                              <a:latin typeface="Cambria Math" panose="02040503050406030204" pitchFamily="18" charset="0"/>
                            </a:rPr>
                          </m:ctrlPr>
                        </m:sSubPr>
                        <m:e>
                          <m:r>
                            <a:rPr lang="es-EC" i="1">
                              <a:latin typeface="Cambria Math" panose="02040503050406030204" pitchFamily="18" charset="0"/>
                            </a:rPr>
                            <m:t>𝑚</m:t>
                          </m:r>
                        </m:e>
                        <m:sub>
                          <m:r>
                            <a:rPr lang="es-EC" i="1">
                              <a:latin typeface="Cambria Math" panose="02040503050406030204" pitchFamily="18" charset="0"/>
                            </a:rPr>
                            <m:t>1</m:t>
                          </m:r>
                        </m:sub>
                      </m:sSub>
                      <m:d>
                        <m:dPr>
                          <m:ctrlPr>
                            <a:rPr lang="es-EC" i="1">
                              <a:latin typeface="Cambria Math" panose="02040503050406030204" pitchFamily="18" charset="0"/>
                            </a:rPr>
                          </m:ctrlPr>
                        </m:dPr>
                        <m:e>
                          <m:r>
                            <a:rPr lang="es-EC" i="1">
                              <a:latin typeface="Cambria Math" panose="02040503050406030204" pitchFamily="18" charset="0"/>
                            </a:rPr>
                            <m:t>𝑥</m:t>
                          </m:r>
                        </m:e>
                      </m:d>
                      <m:r>
                        <a:rPr lang="es-EC" i="1">
                          <a:latin typeface="Cambria Math" panose="02040503050406030204" pitchFamily="18" charset="0"/>
                        </a:rPr>
                        <m:t>+ </m:t>
                      </m:r>
                      <m:sSub>
                        <m:sSubPr>
                          <m:ctrlPr>
                            <a:rPr lang="es-EC" i="1">
                              <a:latin typeface="Cambria Math" panose="02040503050406030204" pitchFamily="18" charset="0"/>
                            </a:rPr>
                          </m:ctrlPr>
                        </m:sSubPr>
                        <m:e>
                          <m:r>
                            <a:rPr lang="es-EC" i="1">
                              <a:latin typeface="Cambria Math" panose="02040503050406030204" pitchFamily="18" charset="0"/>
                            </a:rPr>
                            <m:t>𝑚</m:t>
                          </m:r>
                        </m:e>
                        <m:sub>
                          <m:r>
                            <a:rPr lang="es-EC" i="1">
                              <a:latin typeface="Cambria Math" panose="02040503050406030204" pitchFamily="18" charset="0"/>
                            </a:rPr>
                            <m:t>2</m:t>
                          </m:r>
                        </m:sub>
                      </m:sSub>
                      <m:d>
                        <m:dPr>
                          <m:ctrlPr>
                            <a:rPr lang="es-EC" i="1">
                              <a:latin typeface="Cambria Math" panose="02040503050406030204" pitchFamily="18" charset="0"/>
                            </a:rPr>
                          </m:ctrlPr>
                        </m:dPr>
                        <m:e>
                          <m:r>
                            <a:rPr lang="es-EC" i="1">
                              <a:latin typeface="Cambria Math" panose="02040503050406030204" pitchFamily="18" charset="0"/>
                            </a:rPr>
                            <m:t>𝑧</m:t>
                          </m:r>
                        </m:e>
                      </m:d>
                      <m:r>
                        <a:rPr lang="es-EC" i="1">
                          <a:latin typeface="Cambria Math" panose="02040503050406030204" pitchFamily="18" charset="0"/>
                        </a:rPr>
                        <m:t>+ </m:t>
                      </m:r>
                      <m:r>
                        <a:rPr lang="es-EC" i="1">
                          <a:latin typeface="Cambria Math" panose="02040503050406030204" pitchFamily="18" charset="0"/>
                        </a:rPr>
                        <m:t>𝑏</m:t>
                      </m:r>
                    </m:oMath>
                  </m:oMathPara>
                </a14:m>
                <a:endParaRPr lang="es-EC" dirty="0"/>
              </a:p>
            </p:txBody>
          </p:sp>
        </mc:Choice>
        <mc:Fallback xmlns="">
          <p:sp>
            <p:nvSpPr>
              <p:cNvPr id="16" name="TextBox 15">
                <a:extLst>
                  <a:ext uri="{FF2B5EF4-FFF2-40B4-BE49-F238E27FC236}">
                    <a16:creationId xmlns:a16="http://schemas.microsoft.com/office/drawing/2014/main" id="{06F3F6DA-4686-D197-B2EE-21A3ABDCA6CD}"/>
                  </a:ext>
                </a:extLst>
              </p:cNvPr>
              <p:cNvSpPr txBox="1">
                <a:spLocks noRot="1" noChangeAspect="1" noMove="1" noResize="1" noEditPoints="1" noAdjustHandles="1" noChangeArrowheads="1" noChangeShapeType="1" noTextEdit="1"/>
              </p:cNvSpPr>
              <p:nvPr/>
            </p:nvSpPr>
            <p:spPr>
              <a:xfrm>
                <a:off x="9018586" y="2222899"/>
                <a:ext cx="2946400" cy="369332"/>
              </a:xfrm>
              <a:prstGeom prst="rect">
                <a:avLst/>
              </a:prstGeom>
              <a:blipFill>
                <a:blip r:embed="rId4"/>
                <a:stretch>
                  <a:fillRect b="-8333"/>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5B091C8-68C2-090B-ACE6-0314126C19A2}"/>
                  </a:ext>
                </a:extLst>
              </p:cNvPr>
              <p:cNvSpPr txBox="1"/>
              <p:nvPr/>
            </p:nvSpPr>
            <p:spPr>
              <a:xfrm>
                <a:off x="9018586" y="2789211"/>
                <a:ext cx="2946400" cy="1181285"/>
              </a:xfrm>
              <a:prstGeom prst="rect">
                <a:avLst/>
              </a:prstGeom>
              <a:solidFill>
                <a:schemeClr val="bg1">
                  <a:lumMod val="85000"/>
                  <a:lumOff val="15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r>
                        <a:rPr lang="es-EC" i="1">
                          <a:latin typeface="Cambria Math" panose="02040503050406030204" pitchFamily="18" charset="0"/>
                        </a:rPr>
                        <m:t>𝑦</m:t>
                      </m:r>
                      <m:r>
                        <a:rPr lang="es-EC" i="1">
                          <a:latin typeface="Cambria Math" panose="02040503050406030204" pitchFamily="18" charset="0"/>
                        </a:rPr>
                        <m:t> = 0.0456221(</m:t>
                      </m:r>
                      <m:r>
                        <a:rPr lang="es-EC" i="1">
                          <a:latin typeface="Cambria Math" panose="02040503050406030204" pitchFamily="18" charset="0"/>
                        </a:rPr>
                        <m:t>𝑥</m:t>
                      </m:r>
                      <m:r>
                        <a:rPr lang="es-EC" i="1">
                          <a:latin typeface="Cambria Math" panose="02040503050406030204" pitchFamily="18" charset="0"/>
                        </a:rPr>
                        <m:t>) + 0.7233755(</m:t>
                      </m:r>
                      <m:r>
                        <a:rPr lang="es-EC" i="1">
                          <a:latin typeface="Cambria Math" panose="02040503050406030204" pitchFamily="18" charset="0"/>
                        </a:rPr>
                        <m:t>𝑦</m:t>
                      </m:r>
                      <m:r>
                        <a:rPr lang="es-EC" i="1">
                          <a:latin typeface="Cambria Math" panose="02040503050406030204" pitchFamily="18" charset="0"/>
                        </a:rPr>
                        <m:t>) + 0.4176353</m:t>
                      </m:r>
                    </m:oMath>
                  </m:oMathPara>
                </a14:m>
                <a:endParaRPr lang="es-EC" dirty="0"/>
              </a:p>
            </p:txBody>
          </p:sp>
        </mc:Choice>
        <mc:Fallback xmlns="">
          <p:sp>
            <p:nvSpPr>
              <p:cNvPr id="17" name="TextBox 16">
                <a:extLst>
                  <a:ext uri="{FF2B5EF4-FFF2-40B4-BE49-F238E27FC236}">
                    <a16:creationId xmlns:a16="http://schemas.microsoft.com/office/drawing/2014/main" id="{85B091C8-68C2-090B-ACE6-0314126C19A2}"/>
                  </a:ext>
                </a:extLst>
              </p:cNvPr>
              <p:cNvSpPr txBox="1">
                <a:spLocks noRot="1" noChangeAspect="1" noMove="1" noResize="1" noEditPoints="1" noAdjustHandles="1" noChangeArrowheads="1" noChangeShapeType="1" noTextEdit="1"/>
              </p:cNvSpPr>
              <p:nvPr/>
            </p:nvSpPr>
            <p:spPr>
              <a:xfrm>
                <a:off x="9018586" y="2789211"/>
                <a:ext cx="2946400" cy="1181285"/>
              </a:xfrm>
              <a:prstGeom prst="rect">
                <a:avLst/>
              </a:prstGeom>
              <a:blipFill>
                <a:blip r:embed="rId5"/>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5560EDB-92B6-4A4D-0E5E-F8FF70010829}"/>
                  </a:ext>
                </a:extLst>
              </p:cNvPr>
              <p:cNvSpPr txBox="1"/>
              <p:nvPr/>
            </p:nvSpPr>
            <p:spPr>
              <a:xfrm>
                <a:off x="1185795" y="5675976"/>
                <a:ext cx="9820405" cy="929550"/>
              </a:xfrm>
              <a:prstGeom prst="rect">
                <a:avLst/>
              </a:prstGeom>
              <a:noFill/>
              <a:ln>
                <a:solidFill>
                  <a:schemeClr val="tx1"/>
                </a:solidFill>
              </a:ln>
            </p:spPr>
            <p:txBody>
              <a:bodyPr wrap="square">
                <a:spAutoFit/>
              </a:bodyPr>
              <a:lstStyle/>
              <a:p>
                <a:r>
                  <a:rPr lang="en-US" dirty="0">
                    <a:latin typeface="Aptos" panose="020B0004020202020204" pitchFamily="34" charset="0"/>
                  </a:rPr>
                  <a:t>With an </a:t>
                </a:r>
                <a14:m>
                  <m:oMath xmlns:m="http://schemas.openxmlformats.org/officeDocument/2006/math">
                    <m:sSup>
                      <m:sSupPr>
                        <m:ctrlPr>
                          <a:rPr lang="es-EC"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2</m:t>
                        </m:r>
                      </m:sup>
                    </m:sSup>
                  </m:oMath>
                </a14:m>
                <a:r>
                  <a:rPr lang="en-US" dirty="0">
                    <a:latin typeface="Aptos" panose="020B0004020202020204" pitchFamily="34" charset="0"/>
                  </a:rPr>
                  <a:t> of 0.909, we can affirm that 90.9% of the data variation in Gas Usage is explained by the Electricity Usage and the Carbon Footprint. This model is slightly better than the Single Linear Regression one, although not by much.</a:t>
                </a:r>
                <a:endParaRPr lang="es-EC" dirty="0">
                  <a:latin typeface="Aptos" panose="020B0004020202020204" pitchFamily="34" charset="0"/>
                </a:endParaRPr>
              </a:p>
            </p:txBody>
          </p:sp>
        </mc:Choice>
        <mc:Fallback xmlns="">
          <p:sp>
            <p:nvSpPr>
              <p:cNvPr id="18" name="TextBox 17">
                <a:extLst>
                  <a:ext uri="{FF2B5EF4-FFF2-40B4-BE49-F238E27FC236}">
                    <a16:creationId xmlns:a16="http://schemas.microsoft.com/office/drawing/2014/main" id="{75560EDB-92B6-4A4D-0E5E-F8FF70010829}"/>
                  </a:ext>
                </a:extLst>
              </p:cNvPr>
              <p:cNvSpPr txBox="1">
                <a:spLocks noRot="1" noChangeAspect="1" noMove="1" noResize="1" noEditPoints="1" noAdjustHandles="1" noChangeArrowheads="1" noChangeShapeType="1" noTextEdit="1"/>
              </p:cNvSpPr>
              <p:nvPr/>
            </p:nvSpPr>
            <p:spPr>
              <a:xfrm>
                <a:off x="1185795" y="5675976"/>
                <a:ext cx="9820405" cy="929550"/>
              </a:xfrm>
              <a:prstGeom prst="rect">
                <a:avLst/>
              </a:prstGeom>
              <a:blipFill>
                <a:blip r:embed="rId6"/>
                <a:stretch>
                  <a:fillRect l="-496" t="-1290" r="-806" b="-9032"/>
                </a:stretch>
              </a:blipFill>
              <a:ln>
                <a:solidFill>
                  <a:schemeClr val="tx1"/>
                </a:solidFill>
              </a:ln>
            </p:spPr>
            <p:txBody>
              <a:bodyPr/>
              <a:lstStyle/>
              <a:p>
                <a:r>
                  <a:rPr lang="es-EC">
                    <a:noFill/>
                  </a:rPr>
                  <a:t> </a:t>
                </a:r>
              </a:p>
            </p:txBody>
          </p:sp>
        </mc:Fallback>
      </mc:AlternateContent>
    </p:spTree>
    <p:extLst>
      <p:ext uri="{BB962C8B-B14F-4D97-AF65-F5344CB8AC3E}">
        <p14:creationId xmlns:p14="http://schemas.microsoft.com/office/powerpoint/2010/main" val="529269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C765D2-45AF-971C-B597-B708587E45C2}"/>
              </a:ext>
            </a:extLst>
          </p:cNvPr>
          <p:cNvSpPr/>
          <p:nvPr/>
        </p:nvSpPr>
        <p:spPr>
          <a:xfrm>
            <a:off x="1185797" y="425885"/>
            <a:ext cx="9820405" cy="851770"/>
          </a:xfrm>
          <a:prstGeom prst="rect">
            <a:avLst/>
          </a:prstGeom>
          <a:gradFill flip="none" rotWithShape="1">
            <a:gsLst>
              <a:gs pos="0">
                <a:srgbClr val="335F20">
                  <a:shade val="30000"/>
                  <a:satMod val="115000"/>
                </a:srgbClr>
              </a:gs>
              <a:gs pos="50000">
                <a:srgbClr val="335F20">
                  <a:shade val="67500"/>
                  <a:satMod val="115000"/>
                </a:srgbClr>
              </a:gs>
              <a:gs pos="100000">
                <a:srgbClr val="335F20">
                  <a:shade val="100000"/>
                  <a:satMod val="115000"/>
                </a:srgbClr>
              </a:gs>
            </a:gsLst>
            <a:path path="circle">
              <a:fillToRect l="100000" b="100000"/>
            </a:path>
            <a:tileRect t="-100000" r="-100000"/>
          </a:gra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i="0" dirty="0">
                <a:solidFill>
                  <a:schemeClr val="tx1"/>
                </a:solidFill>
                <a:effectLst/>
                <a:latin typeface="Aptos" panose="020B0004020202020204" pitchFamily="34" charset="0"/>
              </a:rPr>
              <a:t>Logistic Regression</a:t>
            </a:r>
            <a:endParaRPr lang="en-PK" sz="3200" dirty="0">
              <a:solidFill>
                <a:schemeClr val="tx1"/>
              </a:solidFill>
            </a:endParaRPr>
          </a:p>
        </p:txBody>
      </p:sp>
      <p:sp>
        <p:nvSpPr>
          <p:cNvPr id="14" name="TextBox 13">
            <a:extLst>
              <a:ext uri="{FF2B5EF4-FFF2-40B4-BE49-F238E27FC236}">
                <a16:creationId xmlns:a16="http://schemas.microsoft.com/office/drawing/2014/main" id="{FD56728F-FC78-1351-C77B-27178F3AA312}"/>
              </a:ext>
            </a:extLst>
          </p:cNvPr>
          <p:cNvSpPr txBox="1"/>
          <p:nvPr/>
        </p:nvSpPr>
        <p:spPr>
          <a:xfrm>
            <a:off x="5875270" y="559382"/>
            <a:ext cx="4995086" cy="584775"/>
          </a:xfrm>
          <a:prstGeom prst="rect">
            <a:avLst/>
          </a:prstGeom>
          <a:noFill/>
          <a:ln>
            <a:solidFill>
              <a:schemeClr val="tx1"/>
            </a:solidFill>
          </a:ln>
        </p:spPr>
        <p:txBody>
          <a:bodyPr wrap="square">
            <a:spAutoFit/>
          </a:bodyPr>
          <a:lstStyle/>
          <a:p>
            <a:pPr algn="l" rtl="0" fontAlgn="base"/>
            <a:r>
              <a:rPr lang="en-US" sz="1600" b="1" i="0" dirty="0">
                <a:effectLst/>
                <a:latin typeface="Aptos" panose="020B0004020202020204" pitchFamily="34" charset="0"/>
              </a:rPr>
              <a:t>Y = </a:t>
            </a:r>
            <a:r>
              <a:rPr lang="en-GB" sz="1600" b="0" i="0" dirty="0">
                <a:effectLst/>
                <a:latin typeface="Aptos" panose="020B0004020202020204" pitchFamily="34" charset="0"/>
              </a:rPr>
              <a:t>High emissions as Outcome  (dependent variable) </a:t>
            </a:r>
            <a:r>
              <a:rPr lang="en-US" sz="1600" b="1" i="0" dirty="0">
                <a:effectLst/>
                <a:latin typeface="Aptos" panose="020B0004020202020204" pitchFamily="34" charset="0"/>
              </a:rPr>
              <a:t> </a:t>
            </a:r>
            <a:br>
              <a:rPr lang="en-US" sz="1600" b="1" i="0" dirty="0">
                <a:effectLst/>
                <a:latin typeface="Aptos" panose="020B0004020202020204" pitchFamily="34" charset="0"/>
              </a:rPr>
            </a:br>
            <a:r>
              <a:rPr lang="en-US" sz="1600" b="1" i="0" dirty="0">
                <a:effectLst/>
                <a:latin typeface="Aptos" panose="020B0004020202020204" pitchFamily="34" charset="0"/>
              </a:rPr>
              <a:t>X = </a:t>
            </a:r>
            <a:r>
              <a:rPr lang="en-US" sz="1600" b="0" i="0" u="none" strike="noStrike" dirty="0">
                <a:effectLst/>
                <a:latin typeface="Aptos" panose="020B0004020202020204" pitchFamily="34" charset="0"/>
              </a:rPr>
              <a:t>Household size as predictor (independent variable)</a:t>
            </a:r>
            <a:endParaRPr lang="en-US" sz="1800" b="1" i="0" dirty="0">
              <a:effectLst/>
              <a:latin typeface="Aptos" panose="020B0004020202020204" pitchFamily="34" charset="0"/>
            </a:endParaRPr>
          </a:p>
        </p:txBody>
      </p:sp>
      <p:sp>
        <p:nvSpPr>
          <p:cNvPr id="5" name="TextBox 4">
            <a:extLst>
              <a:ext uri="{FF2B5EF4-FFF2-40B4-BE49-F238E27FC236}">
                <a16:creationId xmlns:a16="http://schemas.microsoft.com/office/drawing/2014/main" id="{26FBF433-893C-E573-36A9-25E638075918}"/>
              </a:ext>
            </a:extLst>
          </p:cNvPr>
          <p:cNvSpPr txBox="1"/>
          <p:nvPr/>
        </p:nvSpPr>
        <p:spPr>
          <a:xfrm>
            <a:off x="1185795" y="1418947"/>
            <a:ext cx="9820405" cy="369332"/>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8900000" scaled="1"/>
            <a:tileRect/>
          </a:gradFill>
          <a:ln>
            <a:solidFill>
              <a:schemeClr val="tx1"/>
            </a:solidFill>
          </a:ln>
        </p:spPr>
        <p:txBody>
          <a:bodyPr wrap="square">
            <a:spAutoFit/>
          </a:bodyPr>
          <a:lstStyle/>
          <a:p>
            <a:pPr algn="l" rtl="0" fontAlgn="base"/>
            <a:r>
              <a:rPr lang="en-US" sz="1800" i="0" dirty="0">
                <a:effectLst/>
                <a:latin typeface="Aptos" panose="020B0004020202020204" pitchFamily="34" charset="0"/>
              </a:rPr>
              <a:t>Plotting </a:t>
            </a:r>
            <a:r>
              <a:rPr lang="en-US" b="1" dirty="0">
                <a:latin typeface="Aptos" panose="020B0004020202020204" pitchFamily="34" charset="0"/>
              </a:rPr>
              <a:t>Logistic</a:t>
            </a:r>
            <a:r>
              <a:rPr lang="en-US" sz="1800" b="1" i="0" dirty="0">
                <a:effectLst/>
                <a:latin typeface="Aptos" panose="020B0004020202020204" pitchFamily="34" charset="0"/>
              </a:rPr>
              <a:t> Regression </a:t>
            </a:r>
            <a:r>
              <a:rPr lang="en-US" sz="1800" i="0" dirty="0">
                <a:effectLst/>
                <a:latin typeface="Aptos" panose="020B0004020202020204" pitchFamily="34" charset="0"/>
              </a:rPr>
              <a:t>model </a:t>
            </a:r>
            <a:r>
              <a:rPr lang="en-US" dirty="0">
                <a:latin typeface="Aptos" panose="020B0004020202020204" pitchFamily="34" charset="0"/>
              </a:rPr>
              <a:t>using </a:t>
            </a:r>
            <a:r>
              <a:rPr lang="en-US" b="1" dirty="0">
                <a:latin typeface="Aptos" panose="020B0004020202020204" pitchFamily="34" charset="0"/>
              </a:rPr>
              <a:t>High emissions</a:t>
            </a:r>
            <a:r>
              <a:rPr lang="en-US" sz="1800" b="1" i="0" dirty="0">
                <a:effectLst/>
                <a:latin typeface="Aptos" panose="020B0004020202020204" pitchFamily="34" charset="0"/>
              </a:rPr>
              <a:t> </a:t>
            </a:r>
            <a:r>
              <a:rPr lang="en-US" sz="1800" i="0" dirty="0">
                <a:effectLst/>
                <a:latin typeface="Aptos" panose="020B0004020202020204" pitchFamily="34" charset="0"/>
              </a:rPr>
              <a:t>against </a:t>
            </a:r>
            <a:r>
              <a:rPr lang="en-US" b="1" i="0" dirty="0">
                <a:effectLst/>
                <a:latin typeface="WordVisi_MSFontService"/>
              </a:rPr>
              <a:t>Household size</a:t>
            </a:r>
            <a:endParaRPr lang="en-US" sz="1800" b="1" i="0" dirty="0">
              <a:effectLst/>
              <a:latin typeface="Aptos" panose="020B0004020202020204" pitchFamily="34" charset="0"/>
            </a:endParaRPr>
          </a:p>
        </p:txBody>
      </p:sp>
      <p:sp>
        <p:nvSpPr>
          <p:cNvPr id="4" name="TextBox 3">
            <a:extLst>
              <a:ext uri="{FF2B5EF4-FFF2-40B4-BE49-F238E27FC236}">
                <a16:creationId xmlns:a16="http://schemas.microsoft.com/office/drawing/2014/main" id="{C1D22F33-6161-3F02-1823-618C9E07FFF0}"/>
              </a:ext>
            </a:extLst>
          </p:cNvPr>
          <p:cNvSpPr txBox="1"/>
          <p:nvPr/>
        </p:nvSpPr>
        <p:spPr>
          <a:xfrm>
            <a:off x="1185795" y="3044396"/>
            <a:ext cx="4963558" cy="861774"/>
          </a:xfrm>
          <a:prstGeom prst="rect">
            <a:avLst/>
          </a:prstGeom>
          <a:noFill/>
          <a:ln>
            <a:solidFill>
              <a:schemeClr val="accent1"/>
            </a:solidFill>
          </a:ln>
        </p:spPr>
        <p:txBody>
          <a:bodyPr wrap="square">
            <a:spAutoFit/>
          </a:bodyPr>
          <a:lstStyle/>
          <a:p>
            <a:pPr algn="l" rtl="0" fontAlgn="base"/>
            <a:r>
              <a:rPr lang="en-US" sz="1600" b="0" i="0" u="none" strike="noStrike" dirty="0">
                <a:effectLst/>
                <a:latin typeface="Aptos" panose="020B0004020202020204" pitchFamily="34" charset="0"/>
              </a:rPr>
              <a:t>Exponentiating:  </a:t>
            </a:r>
            <a:r>
              <a:rPr lang="en-US" sz="1600" b="0" i="0" dirty="0">
                <a:effectLst/>
                <a:latin typeface="WordVisiCarriageReturn_MSFontService"/>
              </a:rPr>
              <a:t> </a:t>
            </a:r>
            <a:br>
              <a:rPr lang="en-US" sz="1600" b="0" i="0" dirty="0">
                <a:effectLst/>
                <a:latin typeface="WordVisiCarriageReturn_MSFontService"/>
              </a:rPr>
            </a:br>
            <a:r>
              <a:rPr lang="en-US" sz="1600" b="0" i="0" u="none" strike="noStrike" dirty="0" err="1">
                <a:effectLst/>
                <a:latin typeface="Aptos" panose="020B0004020202020204" pitchFamily="34" charset="0"/>
              </a:rPr>
              <a:t>Household_size</a:t>
            </a:r>
            <a:r>
              <a:rPr lang="en-US" sz="1600" b="0" i="0" u="none" strike="noStrike" dirty="0">
                <a:effectLst/>
                <a:latin typeface="Aptos" panose="020B0004020202020204" pitchFamily="34" charset="0"/>
              </a:rPr>
              <a:t> - exp(0.55737) = 1.746074 </a:t>
            </a:r>
            <a:r>
              <a:rPr lang="en-US" sz="1600" b="0" i="0" dirty="0">
                <a:effectLst/>
                <a:latin typeface="Aptos" panose="020B0004020202020204" pitchFamily="34" charset="0"/>
              </a:rPr>
              <a:t> </a:t>
            </a:r>
            <a:endParaRPr lang="en-US" sz="1600" b="0" i="0" dirty="0">
              <a:effectLst/>
              <a:latin typeface="Segoe UI" panose="020B0502040204020203" pitchFamily="34" charset="0"/>
            </a:endParaRPr>
          </a:p>
          <a:p>
            <a:pPr algn="l" rtl="0" fontAlgn="base"/>
            <a:r>
              <a:rPr lang="en-US" sz="1600" b="0" i="0" u="none" strike="noStrike" dirty="0">
                <a:effectLst/>
                <a:latin typeface="Aptos" panose="020B0004020202020204" pitchFamily="34" charset="0"/>
              </a:rPr>
              <a:t>Intercept - exp(-3.48535) =  0.03064303 </a:t>
            </a:r>
            <a:r>
              <a:rPr lang="en-US" sz="1600" b="0" i="0" dirty="0">
                <a:effectLst/>
                <a:latin typeface="WordVisiCarriageReturn_MSFontService"/>
              </a:rPr>
              <a:t> </a:t>
            </a:r>
            <a:endParaRPr lang="en-US" sz="1600" b="0" i="0" dirty="0">
              <a:solidFill>
                <a:srgbClr val="000000"/>
              </a:solidFill>
              <a:effectLst/>
              <a:latin typeface="Segoe UI" panose="020B0502040204020203" pitchFamily="34" charset="0"/>
            </a:endParaRPr>
          </a:p>
        </p:txBody>
      </p:sp>
      <p:sp>
        <p:nvSpPr>
          <p:cNvPr id="7" name="TextBox 6">
            <a:extLst>
              <a:ext uri="{FF2B5EF4-FFF2-40B4-BE49-F238E27FC236}">
                <a16:creationId xmlns:a16="http://schemas.microsoft.com/office/drawing/2014/main" id="{2CEE4EDC-E272-0592-5795-D7A40120FEF1}"/>
              </a:ext>
            </a:extLst>
          </p:cNvPr>
          <p:cNvSpPr txBox="1"/>
          <p:nvPr/>
        </p:nvSpPr>
        <p:spPr>
          <a:xfrm>
            <a:off x="6285053" y="4970257"/>
            <a:ext cx="4721147" cy="738664"/>
          </a:xfrm>
          <a:prstGeom prst="rect">
            <a:avLst/>
          </a:prstGeom>
          <a:noFill/>
          <a:ln>
            <a:solidFill>
              <a:schemeClr val="tx1"/>
            </a:solidFill>
          </a:ln>
        </p:spPr>
        <p:txBody>
          <a:bodyPr wrap="square">
            <a:spAutoFit/>
          </a:bodyPr>
          <a:lstStyle/>
          <a:p>
            <a:r>
              <a:rPr lang="en-US" sz="1400" dirty="0">
                <a:latin typeface="Aptos" panose="020B0004020202020204" pitchFamily="34" charset="0"/>
              </a:rPr>
              <a:t>T</a:t>
            </a:r>
            <a:r>
              <a:rPr lang="en-US" sz="1400" b="0" i="0" u="none" strike="noStrike" dirty="0">
                <a:effectLst/>
                <a:latin typeface="Aptos" panose="020B0004020202020204" pitchFamily="34" charset="0"/>
              </a:rPr>
              <a:t>his is a statistically significant result, which predicts the odds of larger households being a high emitters, as seen on the graph.</a:t>
            </a:r>
            <a:r>
              <a:rPr lang="en-US" sz="1400" b="0" i="0" dirty="0">
                <a:effectLst/>
                <a:latin typeface="Aptos" panose="020B0004020202020204" pitchFamily="34" charset="0"/>
              </a:rPr>
              <a:t> </a:t>
            </a:r>
            <a:endParaRPr lang="en-PK" sz="1400" dirty="0"/>
          </a:p>
        </p:txBody>
      </p:sp>
      <p:pic>
        <p:nvPicPr>
          <p:cNvPr id="1026" name="Picture 2">
            <a:extLst>
              <a:ext uri="{FF2B5EF4-FFF2-40B4-BE49-F238E27FC236}">
                <a16:creationId xmlns:a16="http://schemas.microsoft.com/office/drawing/2014/main" id="{50EEF5E0-DEF4-1CBA-5444-3A1517C24E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5053" y="1943468"/>
            <a:ext cx="4736661" cy="2871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F735D64-3156-39F1-20A4-61186647C7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0286" y="1896754"/>
            <a:ext cx="4995086" cy="103916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3750286-743E-2903-C654-03EDF8FDBC26}"/>
              </a:ext>
            </a:extLst>
          </p:cNvPr>
          <p:cNvSpPr txBox="1"/>
          <p:nvPr/>
        </p:nvSpPr>
        <p:spPr>
          <a:xfrm>
            <a:off x="1170286" y="4014645"/>
            <a:ext cx="4963558" cy="2308324"/>
          </a:xfrm>
          <a:prstGeom prst="rect">
            <a:avLst/>
          </a:prstGeom>
          <a:noFill/>
          <a:ln>
            <a:solidFill>
              <a:schemeClr val="accent1"/>
            </a:solidFill>
          </a:ln>
        </p:spPr>
        <p:txBody>
          <a:bodyPr wrap="square">
            <a:spAutoFit/>
          </a:bodyPr>
          <a:lstStyle/>
          <a:p>
            <a:pPr algn="l" rtl="0" fontAlgn="base"/>
            <a:r>
              <a:rPr lang="en-US" sz="1600" b="0" i="0" u="none" strike="noStrike" dirty="0">
                <a:effectLst/>
                <a:latin typeface="Aptos" panose="020B0004020202020204" pitchFamily="34" charset="0"/>
              </a:rPr>
              <a:t>Household size has a significant effect with p-value being 2e-16. </a:t>
            </a:r>
            <a:r>
              <a:rPr lang="en-US" sz="1600" b="0" i="0" dirty="0">
                <a:effectLst/>
                <a:latin typeface="WordVisiCarriageReturn_MSFontService"/>
              </a:rPr>
              <a:t> </a:t>
            </a:r>
          </a:p>
          <a:p>
            <a:pPr algn="l" rtl="0" fontAlgn="base"/>
            <a:br>
              <a:rPr lang="en-US" sz="1600" b="0" i="0" dirty="0">
                <a:effectLst/>
                <a:latin typeface="WordVisiCarriageReturn_MSFontService"/>
              </a:rPr>
            </a:br>
            <a:r>
              <a:rPr lang="en-US" sz="1600" b="0" i="0" u="none" strike="noStrike" dirty="0">
                <a:effectLst/>
                <a:latin typeface="Aptos" panose="020B0004020202020204" pitchFamily="34" charset="0"/>
              </a:rPr>
              <a:t>This means as number of household members increases, the probability of being a high emitter increases too.</a:t>
            </a:r>
            <a:r>
              <a:rPr lang="en-US" sz="1600" b="0" i="0" dirty="0">
                <a:effectLst/>
                <a:latin typeface="WordVisiCarriageReturn_MSFontService"/>
              </a:rPr>
              <a:t> </a:t>
            </a:r>
            <a:br>
              <a:rPr lang="en-US" sz="1600" b="0" i="0" dirty="0">
                <a:effectLst/>
                <a:latin typeface="WordVisiCarriageReturn_MSFontService"/>
              </a:rPr>
            </a:br>
            <a:r>
              <a:rPr lang="en-US" sz="1600" b="0" i="0" dirty="0">
                <a:effectLst/>
                <a:latin typeface="WordVisiCarriageReturn_MSFontService"/>
              </a:rPr>
              <a:t> </a:t>
            </a:r>
            <a:br>
              <a:rPr lang="en-US" sz="1600" b="0" i="0" dirty="0">
                <a:effectLst/>
                <a:latin typeface="WordVisiCarriageReturn_MSFontService"/>
              </a:rPr>
            </a:br>
            <a:r>
              <a:rPr lang="en-US" sz="1600" b="0" i="0" u="none" strike="noStrike" dirty="0">
                <a:effectLst/>
                <a:latin typeface="Aptos" panose="020B0004020202020204" pitchFamily="34" charset="0"/>
              </a:rPr>
              <a:t>The linear model formula is as follows:</a:t>
            </a:r>
            <a:r>
              <a:rPr lang="en-US" sz="1600" b="0" i="0" dirty="0">
                <a:effectLst/>
                <a:latin typeface="Aptos" panose="020B0004020202020204" pitchFamily="34" charset="0"/>
              </a:rPr>
              <a:t> </a:t>
            </a:r>
            <a:endParaRPr lang="en-US" sz="1600" b="0" i="0" dirty="0">
              <a:effectLst/>
              <a:latin typeface="Segoe UI" panose="020B0502040204020203" pitchFamily="34" charset="0"/>
            </a:endParaRPr>
          </a:p>
          <a:p>
            <a:pPr algn="l" rtl="0" fontAlgn="base"/>
            <a:r>
              <a:rPr lang="en-US" sz="1600" b="0" i="0" u="none" strike="noStrike" dirty="0">
                <a:effectLst/>
                <a:latin typeface="Aptos" panose="020B0004020202020204" pitchFamily="34" charset="0"/>
              </a:rPr>
              <a:t> y = 0.03064303 + 1.746074(x) </a:t>
            </a:r>
            <a:r>
              <a:rPr lang="en-US" sz="1600" b="0" i="0" dirty="0">
                <a:effectLst/>
                <a:latin typeface="WordVisiCarriageReturn_MSFontService"/>
              </a:rPr>
              <a:t> </a:t>
            </a:r>
            <a:endParaRPr lang="en-US" sz="1600" b="0" i="0" dirty="0">
              <a:effectLst/>
              <a:latin typeface="Segoe UI" panose="020B0502040204020203" pitchFamily="34" charset="0"/>
            </a:endParaRPr>
          </a:p>
        </p:txBody>
      </p:sp>
    </p:spTree>
    <p:extLst>
      <p:ext uri="{BB962C8B-B14F-4D97-AF65-F5344CB8AC3E}">
        <p14:creationId xmlns:p14="http://schemas.microsoft.com/office/powerpoint/2010/main" val="3694521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C765D2-45AF-971C-B597-B708587E45C2}"/>
              </a:ext>
            </a:extLst>
          </p:cNvPr>
          <p:cNvSpPr/>
          <p:nvPr/>
        </p:nvSpPr>
        <p:spPr>
          <a:xfrm>
            <a:off x="1185794" y="309696"/>
            <a:ext cx="9820405" cy="851770"/>
          </a:xfrm>
          <a:prstGeom prst="rect">
            <a:avLst/>
          </a:prstGeom>
          <a:gradFill flip="none" rotWithShape="1">
            <a:gsLst>
              <a:gs pos="0">
                <a:srgbClr val="335F20">
                  <a:shade val="30000"/>
                  <a:satMod val="115000"/>
                </a:srgbClr>
              </a:gs>
              <a:gs pos="50000">
                <a:srgbClr val="335F20">
                  <a:shade val="67500"/>
                  <a:satMod val="115000"/>
                </a:srgbClr>
              </a:gs>
              <a:gs pos="100000">
                <a:srgbClr val="335F20">
                  <a:shade val="100000"/>
                  <a:satMod val="115000"/>
                </a:srgbClr>
              </a:gs>
            </a:gsLst>
            <a:path path="circle">
              <a:fillToRect l="100000" b="100000"/>
            </a:path>
            <a:tileRect t="-100000" r="-100000"/>
          </a:gra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i="0" dirty="0">
                <a:solidFill>
                  <a:schemeClr val="tx1"/>
                </a:solidFill>
                <a:effectLst/>
                <a:latin typeface="Aptos" panose="020B0004020202020204" pitchFamily="34" charset="0"/>
              </a:rPr>
              <a:t>Insights: What factors affect Carbon Footprint the most?</a:t>
            </a:r>
            <a:endParaRPr lang="en-PK" sz="3200" dirty="0">
              <a:solidFill>
                <a:schemeClr val="tx1"/>
              </a:solidFill>
            </a:endParaRPr>
          </a:p>
        </p:txBody>
      </p:sp>
      <p:sp>
        <p:nvSpPr>
          <p:cNvPr id="6" name="TextBox 5">
            <a:extLst>
              <a:ext uri="{FF2B5EF4-FFF2-40B4-BE49-F238E27FC236}">
                <a16:creationId xmlns:a16="http://schemas.microsoft.com/office/drawing/2014/main" id="{A3750286-743E-2903-C654-03EDF8FDBC26}"/>
              </a:ext>
            </a:extLst>
          </p:cNvPr>
          <p:cNvSpPr txBox="1"/>
          <p:nvPr/>
        </p:nvSpPr>
        <p:spPr>
          <a:xfrm>
            <a:off x="1185796" y="1351507"/>
            <a:ext cx="9820405" cy="923330"/>
          </a:xfrm>
          <a:prstGeom prst="rect">
            <a:avLst/>
          </a:prstGeom>
          <a:noFill/>
          <a:ln>
            <a:solidFill>
              <a:schemeClr val="accent1"/>
            </a:solidFill>
          </a:ln>
        </p:spPr>
        <p:txBody>
          <a:bodyPr wrap="square">
            <a:spAutoFit/>
          </a:bodyPr>
          <a:lstStyle/>
          <a:p>
            <a:pPr algn="l" rtl="0" fontAlgn="base"/>
            <a:r>
              <a:rPr lang="en-GB" dirty="0"/>
              <a:t>Gas usage has a strong positive correlation with Electricity Usage. This indicates that households that use more electricity, on average, also use more gas, leading to a larger carbon footprint.</a:t>
            </a:r>
            <a:endParaRPr lang="en-US" sz="1600" b="0" i="0" dirty="0">
              <a:effectLst/>
              <a:latin typeface="Segoe UI" panose="020B0502040204020203" pitchFamily="34" charset="0"/>
            </a:endParaRPr>
          </a:p>
        </p:txBody>
      </p:sp>
      <p:sp>
        <p:nvSpPr>
          <p:cNvPr id="8" name="TextBox 7">
            <a:extLst>
              <a:ext uri="{FF2B5EF4-FFF2-40B4-BE49-F238E27FC236}">
                <a16:creationId xmlns:a16="http://schemas.microsoft.com/office/drawing/2014/main" id="{285EB8D7-30B8-A5E1-FEC9-6211E4158FAD}"/>
              </a:ext>
            </a:extLst>
          </p:cNvPr>
          <p:cNvSpPr txBox="1"/>
          <p:nvPr/>
        </p:nvSpPr>
        <p:spPr>
          <a:xfrm>
            <a:off x="1185795" y="2416375"/>
            <a:ext cx="9820405" cy="1200329"/>
          </a:xfrm>
          <a:prstGeom prst="rect">
            <a:avLst/>
          </a:prstGeom>
          <a:noFill/>
          <a:ln>
            <a:solidFill>
              <a:schemeClr val="accent1"/>
            </a:solidFill>
          </a:ln>
        </p:spPr>
        <p:txBody>
          <a:bodyPr wrap="square">
            <a:spAutoFit/>
          </a:bodyPr>
          <a:lstStyle/>
          <a:p>
            <a:r>
              <a:rPr lang="en-GB" dirty="0"/>
              <a:t>Certain middle-income households have a large carbon footprint when compared to different income households. While income alone may not strongly predict a household’s carbon footprint, it appears that middle-income households are more likely to have upper outliers due to external, unknown factors.</a:t>
            </a:r>
            <a:endParaRPr lang="en-PK" dirty="0"/>
          </a:p>
        </p:txBody>
      </p:sp>
      <p:sp>
        <p:nvSpPr>
          <p:cNvPr id="12" name="TextBox 11">
            <a:extLst>
              <a:ext uri="{FF2B5EF4-FFF2-40B4-BE49-F238E27FC236}">
                <a16:creationId xmlns:a16="http://schemas.microsoft.com/office/drawing/2014/main" id="{D24F1B28-348E-A6B0-873B-248664F6D9AA}"/>
              </a:ext>
            </a:extLst>
          </p:cNvPr>
          <p:cNvSpPr txBox="1"/>
          <p:nvPr/>
        </p:nvSpPr>
        <p:spPr>
          <a:xfrm>
            <a:off x="1185795" y="3765178"/>
            <a:ext cx="9820405" cy="923330"/>
          </a:xfrm>
          <a:prstGeom prst="rect">
            <a:avLst/>
          </a:prstGeom>
          <a:noFill/>
          <a:ln>
            <a:solidFill>
              <a:schemeClr val="accent1"/>
            </a:solidFill>
          </a:ln>
        </p:spPr>
        <p:txBody>
          <a:bodyPr wrap="square">
            <a:spAutoFit/>
          </a:bodyPr>
          <a:lstStyle/>
          <a:p>
            <a:r>
              <a:rPr lang="en-US" sz="1800" b="0" i="0" dirty="0">
                <a:effectLst/>
                <a:latin typeface="Aptos" panose="020B0004020202020204" pitchFamily="34" charset="0"/>
              </a:rPr>
              <a:t>Public transport is used the most by medium-income households followed by low-income households and then by high-income households. This indicates that high-income households may own personal means of transport.</a:t>
            </a:r>
            <a:r>
              <a:rPr lang="en-US" sz="1800" b="0" i="0" dirty="0">
                <a:effectLst/>
                <a:latin typeface="WordVisiCarriageReturn_MSFontService"/>
              </a:rPr>
              <a:t> </a:t>
            </a:r>
            <a:endParaRPr lang="en-PK" dirty="0"/>
          </a:p>
        </p:txBody>
      </p:sp>
      <p:sp>
        <p:nvSpPr>
          <p:cNvPr id="16" name="TextBox 15">
            <a:extLst>
              <a:ext uri="{FF2B5EF4-FFF2-40B4-BE49-F238E27FC236}">
                <a16:creationId xmlns:a16="http://schemas.microsoft.com/office/drawing/2014/main" id="{D78A5FEB-DA63-D78D-0D64-776A55E72BE5}"/>
              </a:ext>
            </a:extLst>
          </p:cNvPr>
          <p:cNvSpPr txBox="1"/>
          <p:nvPr/>
        </p:nvSpPr>
        <p:spPr>
          <a:xfrm>
            <a:off x="1185794" y="4848557"/>
            <a:ext cx="9820405" cy="923330"/>
          </a:xfrm>
          <a:prstGeom prst="rect">
            <a:avLst/>
          </a:prstGeom>
          <a:noFill/>
          <a:ln>
            <a:solidFill>
              <a:schemeClr val="accent1"/>
            </a:solidFill>
          </a:ln>
        </p:spPr>
        <p:txBody>
          <a:bodyPr wrap="square">
            <a:spAutoFit/>
          </a:bodyPr>
          <a:lstStyle/>
          <a:p>
            <a:pPr algn="l" rtl="0" fontAlgn="base"/>
            <a:r>
              <a:rPr lang="en-GB" dirty="0"/>
              <a:t>There's a </a:t>
            </a:r>
            <a:r>
              <a:rPr lang="en-GB" dirty="0" err="1"/>
              <a:t>sociopolitical</a:t>
            </a:r>
            <a:r>
              <a:rPr lang="en-GB" dirty="0"/>
              <a:t> factor at play when it comes to whether a household recycles waste or not. Higher income/class households recycle more and don't have as much emissions as those from lower income/class, suggesting a possible educational angle as well.</a:t>
            </a:r>
            <a:endParaRPr lang="en-US" sz="1600" b="0" i="0" dirty="0">
              <a:effectLst/>
              <a:latin typeface="Segoe UI" panose="020B0502040204020203" pitchFamily="34" charset="0"/>
            </a:endParaRPr>
          </a:p>
        </p:txBody>
      </p:sp>
      <p:sp>
        <p:nvSpPr>
          <p:cNvPr id="4" name="TextBox 3">
            <a:extLst>
              <a:ext uri="{FF2B5EF4-FFF2-40B4-BE49-F238E27FC236}">
                <a16:creationId xmlns:a16="http://schemas.microsoft.com/office/drawing/2014/main" id="{D981D073-5CCB-44A4-E6AA-67F10D78FBA0}"/>
              </a:ext>
            </a:extLst>
          </p:cNvPr>
          <p:cNvSpPr txBox="1"/>
          <p:nvPr/>
        </p:nvSpPr>
        <p:spPr>
          <a:xfrm>
            <a:off x="1185794" y="5884679"/>
            <a:ext cx="9820404" cy="923330"/>
          </a:xfrm>
          <a:prstGeom prst="rect">
            <a:avLst/>
          </a:prstGeom>
          <a:noFill/>
          <a:ln>
            <a:solidFill>
              <a:schemeClr val="accent1"/>
            </a:solidFill>
          </a:ln>
        </p:spPr>
        <p:txBody>
          <a:bodyPr wrap="square">
            <a:spAutoFit/>
          </a:bodyPr>
          <a:lstStyle/>
          <a:p>
            <a:r>
              <a:rPr lang="en-GB" dirty="0"/>
              <a:t>For every added occupant in a household, the chances of becoming high emitters increase 1.74 times, or 74%. This also indicates that larger households, on average, have higher carbon footprints.</a:t>
            </a:r>
            <a:endParaRPr lang="en-PK" dirty="0"/>
          </a:p>
        </p:txBody>
      </p:sp>
    </p:spTree>
    <p:extLst>
      <p:ext uri="{BB962C8B-B14F-4D97-AF65-F5344CB8AC3E}">
        <p14:creationId xmlns:p14="http://schemas.microsoft.com/office/powerpoint/2010/main" val="976911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C765D2-45AF-971C-B597-B708587E45C2}"/>
              </a:ext>
            </a:extLst>
          </p:cNvPr>
          <p:cNvSpPr/>
          <p:nvPr/>
        </p:nvSpPr>
        <p:spPr>
          <a:xfrm>
            <a:off x="1185797" y="425885"/>
            <a:ext cx="9820405" cy="851770"/>
          </a:xfrm>
          <a:prstGeom prst="rect">
            <a:avLst/>
          </a:prstGeom>
          <a:gradFill flip="none" rotWithShape="1">
            <a:gsLst>
              <a:gs pos="0">
                <a:srgbClr val="335F20">
                  <a:shade val="30000"/>
                  <a:satMod val="115000"/>
                </a:srgbClr>
              </a:gs>
              <a:gs pos="50000">
                <a:srgbClr val="335F20">
                  <a:shade val="67500"/>
                  <a:satMod val="115000"/>
                </a:srgbClr>
              </a:gs>
              <a:gs pos="100000">
                <a:srgbClr val="335F20">
                  <a:shade val="100000"/>
                  <a:satMod val="115000"/>
                </a:srgbClr>
              </a:gs>
            </a:gsLst>
            <a:path path="circle">
              <a:fillToRect l="100000" b="100000"/>
            </a:path>
            <a:tileRect t="-100000" r="-100000"/>
          </a:gra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chemeClr val="tx1"/>
                </a:solidFill>
                <a:latin typeface="Aptos" panose="020B0004020202020204" pitchFamily="34" charset="0"/>
              </a:rPr>
              <a:t>Recommendations: </a:t>
            </a:r>
            <a:r>
              <a:rPr lang="en-GB" sz="2400" dirty="0"/>
              <a:t>Practical solutions for reducing household emissions</a:t>
            </a:r>
            <a:r>
              <a:rPr lang="en-US" sz="2400" b="1" dirty="0">
                <a:solidFill>
                  <a:schemeClr val="tx1"/>
                </a:solidFill>
                <a:latin typeface="Aptos" panose="020B0004020202020204" pitchFamily="34" charset="0"/>
              </a:rPr>
              <a:t> </a:t>
            </a:r>
            <a:endParaRPr lang="en-PK" sz="3200" dirty="0">
              <a:solidFill>
                <a:schemeClr val="tx1"/>
              </a:solidFill>
            </a:endParaRPr>
          </a:p>
        </p:txBody>
      </p:sp>
      <p:sp>
        <p:nvSpPr>
          <p:cNvPr id="6" name="TextBox 5">
            <a:extLst>
              <a:ext uri="{FF2B5EF4-FFF2-40B4-BE49-F238E27FC236}">
                <a16:creationId xmlns:a16="http://schemas.microsoft.com/office/drawing/2014/main" id="{A3750286-743E-2903-C654-03EDF8FDBC26}"/>
              </a:ext>
            </a:extLst>
          </p:cNvPr>
          <p:cNvSpPr txBox="1"/>
          <p:nvPr/>
        </p:nvSpPr>
        <p:spPr>
          <a:xfrm>
            <a:off x="1185796" y="1397807"/>
            <a:ext cx="9820405" cy="1323439"/>
          </a:xfrm>
          <a:prstGeom prst="rect">
            <a:avLst/>
          </a:prstGeom>
          <a:noFill/>
          <a:ln>
            <a:solidFill>
              <a:schemeClr val="accent1"/>
            </a:solidFill>
          </a:ln>
        </p:spPr>
        <p:txBody>
          <a:bodyPr wrap="square">
            <a:spAutoFit/>
          </a:bodyPr>
          <a:lstStyle/>
          <a:p>
            <a:pPr algn="l" rtl="0" fontAlgn="base"/>
            <a:r>
              <a:rPr lang="en-GB" sz="1600" dirty="0"/>
              <a:t>Both public and private transport should be optimized as much as possible. Ideally, government initiatives should strive to improve public transport accessibility and quality, so people are more likely to use it. As for private transport, educational campaigns should be enacted, to teach people to optimize and plan trips to reduce gas emissions (e.g. plan and schedule grocery shopping instead of it being last minute, coordinate with friends to go in the same car to a destination, etc.).</a:t>
            </a:r>
            <a:endParaRPr lang="en-US" sz="1600" b="0" i="0" dirty="0">
              <a:effectLst/>
              <a:latin typeface="Segoe UI" panose="020B0502040204020203" pitchFamily="34" charset="0"/>
            </a:endParaRPr>
          </a:p>
        </p:txBody>
      </p:sp>
      <p:sp>
        <p:nvSpPr>
          <p:cNvPr id="3" name="TextBox 2">
            <a:extLst>
              <a:ext uri="{FF2B5EF4-FFF2-40B4-BE49-F238E27FC236}">
                <a16:creationId xmlns:a16="http://schemas.microsoft.com/office/drawing/2014/main" id="{570BD446-BE05-AC88-C065-F0F2DFBAE82A}"/>
              </a:ext>
            </a:extLst>
          </p:cNvPr>
          <p:cNvSpPr txBox="1"/>
          <p:nvPr/>
        </p:nvSpPr>
        <p:spPr>
          <a:xfrm>
            <a:off x="1185795" y="2844225"/>
            <a:ext cx="9820405" cy="830997"/>
          </a:xfrm>
          <a:prstGeom prst="rect">
            <a:avLst/>
          </a:prstGeom>
          <a:noFill/>
          <a:ln>
            <a:solidFill>
              <a:schemeClr val="accent1"/>
            </a:solidFill>
          </a:ln>
        </p:spPr>
        <p:txBody>
          <a:bodyPr wrap="square">
            <a:spAutoFit/>
          </a:bodyPr>
          <a:lstStyle/>
          <a:p>
            <a:pPr algn="l" rtl="0" fontAlgn="base"/>
            <a:r>
              <a:rPr lang="en-GB" sz="1600" dirty="0"/>
              <a:t>Large households should invest in smart, eco-friendly appliances that can reduce their carbon footprint, which is elevated by its number of occupants. If feasible, they should invest in renewable energies as well, such as solar panels, for example.</a:t>
            </a:r>
            <a:endParaRPr lang="en-US" sz="1600" b="0" i="0" dirty="0">
              <a:effectLst/>
              <a:latin typeface="Segoe UI" panose="020B0502040204020203" pitchFamily="34" charset="0"/>
            </a:endParaRPr>
          </a:p>
        </p:txBody>
      </p:sp>
      <p:sp>
        <p:nvSpPr>
          <p:cNvPr id="4" name="TextBox 3">
            <a:extLst>
              <a:ext uri="{FF2B5EF4-FFF2-40B4-BE49-F238E27FC236}">
                <a16:creationId xmlns:a16="http://schemas.microsoft.com/office/drawing/2014/main" id="{BBE14AFA-2065-F724-EA34-8996F6E51139}"/>
              </a:ext>
            </a:extLst>
          </p:cNvPr>
          <p:cNvSpPr txBox="1"/>
          <p:nvPr/>
        </p:nvSpPr>
        <p:spPr>
          <a:xfrm>
            <a:off x="1185794" y="3844367"/>
            <a:ext cx="9820405" cy="1077218"/>
          </a:xfrm>
          <a:prstGeom prst="rect">
            <a:avLst/>
          </a:prstGeom>
          <a:noFill/>
          <a:ln>
            <a:solidFill>
              <a:schemeClr val="accent1"/>
            </a:solidFill>
          </a:ln>
        </p:spPr>
        <p:txBody>
          <a:bodyPr wrap="square">
            <a:spAutoFit/>
          </a:bodyPr>
          <a:lstStyle/>
          <a:p>
            <a:pPr algn="l" rtl="0" fontAlgn="base"/>
            <a:r>
              <a:rPr lang="en-GB" sz="1600" dirty="0"/>
              <a:t>Educational campaigns and recycling initiatives should be enacted at large by the government to encourage households to recycle and learn how to do it. A great example of this is Germany’s Deposit Refund System (https://</a:t>
            </a:r>
            <a:r>
              <a:rPr lang="en-GB" sz="1600" dirty="0" err="1"/>
              <a:t>earth.org</a:t>
            </a:r>
            <a:r>
              <a:rPr lang="en-GB" sz="1600" dirty="0"/>
              <a:t>/</a:t>
            </a:r>
            <a:r>
              <a:rPr lang="en-GB" sz="1600" dirty="0" err="1"/>
              <a:t>wastemanagement-germany</a:t>
            </a:r>
            <a:r>
              <a:rPr lang="en-GB" sz="1600" dirty="0"/>
              <a:t>/), which reimburses money to people when they recycle.</a:t>
            </a:r>
            <a:endParaRPr lang="en-US" sz="1600" b="0" i="0" dirty="0">
              <a:effectLst/>
              <a:latin typeface="Segoe UI" panose="020B0502040204020203" pitchFamily="34" charset="0"/>
            </a:endParaRPr>
          </a:p>
        </p:txBody>
      </p:sp>
    </p:spTree>
    <p:extLst>
      <p:ext uri="{BB962C8B-B14F-4D97-AF65-F5344CB8AC3E}">
        <p14:creationId xmlns:p14="http://schemas.microsoft.com/office/powerpoint/2010/main" val="3463628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C765D2-45AF-971C-B597-B708587E45C2}"/>
              </a:ext>
            </a:extLst>
          </p:cNvPr>
          <p:cNvSpPr/>
          <p:nvPr/>
        </p:nvSpPr>
        <p:spPr>
          <a:xfrm>
            <a:off x="1185797" y="425885"/>
            <a:ext cx="9820405" cy="851770"/>
          </a:xfrm>
          <a:prstGeom prst="rect">
            <a:avLst/>
          </a:prstGeom>
          <a:gradFill flip="none" rotWithShape="1">
            <a:gsLst>
              <a:gs pos="0">
                <a:srgbClr val="335F20">
                  <a:shade val="30000"/>
                  <a:satMod val="115000"/>
                </a:srgbClr>
              </a:gs>
              <a:gs pos="50000">
                <a:srgbClr val="335F20">
                  <a:shade val="67500"/>
                  <a:satMod val="115000"/>
                </a:srgbClr>
              </a:gs>
              <a:gs pos="100000">
                <a:srgbClr val="335F20">
                  <a:shade val="100000"/>
                  <a:satMod val="115000"/>
                </a:srgbClr>
              </a:gs>
            </a:gsLst>
            <a:path path="circle">
              <a:fillToRect l="100000" b="100000"/>
            </a:path>
            <a:tileRect t="-100000" r="-100000"/>
          </a:gra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400" dirty="0"/>
              <a:t>For further research, we recommend the following:</a:t>
            </a:r>
            <a:endParaRPr lang="en-PK" sz="3200" dirty="0">
              <a:solidFill>
                <a:schemeClr val="tx1"/>
              </a:solidFill>
            </a:endParaRPr>
          </a:p>
        </p:txBody>
      </p:sp>
      <p:sp>
        <p:nvSpPr>
          <p:cNvPr id="8" name="TextBox 7">
            <a:extLst>
              <a:ext uri="{FF2B5EF4-FFF2-40B4-BE49-F238E27FC236}">
                <a16:creationId xmlns:a16="http://schemas.microsoft.com/office/drawing/2014/main" id="{285EB8D7-30B8-A5E1-FEC9-6211E4158FAD}"/>
              </a:ext>
            </a:extLst>
          </p:cNvPr>
          <p:cNvSpPr txBox="1"/>
          <p:nvPr/>
        </p:nvSpPr>
        <p:spPr>
          <a:xfrm>
            <a:off x="6574421" y="1557821"/>
            <a:ext cx="4188713" cy="2862322"/>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a:ln>
            <a:solidFill>
              <a:schemeClr val="accent1"/>
            </a:solidFill>
          </a:ln>
        </p:spPr>
        <p:txBody>
          <a:bodyPr wrap="square">
            <a:spAutoFit/>
          </a:bodyPr>
          <a:lstStyle/>
          <a:p>
            <a:r>
              <a:rPr lang="en-GB" dirty="0"/>
              <a:t>Further regression models should be created to determine whether the variables have non-linear relationships between them. We tested for correlation other variables in the dataset and some rejected H0 but did not have a good linear model fit. As we learn more about statistics, we’ll be able to create a model that better fits these relationships.</a:t>
            </a:r>
            <a:endParaRPr lang="en-PK" dirty="0"/>
          </a:p>
        </p:txBody>
      </p:sp>
      <p:sp>
        <p:nvSpPr>
          <p:cNvPr id="3" name="TextBox 2">
            <a:extLst>
              <a:ext uri="{FF2B5EF4-FFF2-40B4-BE49-F238E27FC236}">
                <a16:creationId xmlns:a16="http://schemas.microsoft.com/office/drawing/2014/main" id="{8848F9F3-BAC9-7315-C9B9-F7ED11CE048F}"/>
              </a:ext>
            </a:extLst>
          </p:cNvPr>
          <p:cNvSpPr txBox="1"/>
          <p:nvPr/>
        </p:nvSpPr>
        <p:spPr>
          <a:xfrm>
            <a:off x="1529178" y="1546246"/>
            <a:ext cx="4566821" cy="424731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solidFill>
              <a:schemeClr val="accent1"/>
            </a:solidFill>
          </a:ln>
        </p:spPr>
        <p:txBody>
          <a:bodyPr wrap="square">
            <a:spAutoFit/>
          </a:bodyPr>
          <a:lstStyle/>
          <a:p>
            <a:r>
              <a:rPr lang="en-GB" dirty="0"/>
              <a:t>The study can be expanded with further socioeconomic variables. In the insights we mentioned that higher income households recycle more and don't have as much emissions compared to lower income households. However, this insight should be tested with other factors related to income level. For example, would this insight hold up if we consider the amount of commercial airplane trips —which are high CO2 emitters— a household has in a year? How many airplane trips do these different income level households have in a year? Are they required by work or are they recreational trips?</a:t>
            </a:r>
            <a:endParaRPr lang="en-PK" dirty="0"/>
          </a:p>
        </p:txBody>
      </p:sp>
    </p:spTree>
    <p:extLst>
      <p:ext uri="{BB962C8B-B14F-4D97-AF65-F5344CB8AC3E}">
        <p14:creationId xmlns:p14="http://schemas.microsoft.com/office/powerpoint/2010/main" val="3396325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941A04-9E1D-A110-57E0-341D1C7883D8}"/>
              </a:ext>
            </a:extLst>
          </p:cNvPr>
          <p:cNvSpPr txBox="1"/>
          <p:nvPr/>
        </p:nvSpPr>
        <p:spPr>
          <a:xfrm>
            <a:off x="4780343" y="2905780"/>
            <a:ext cx="2361235" cy="52322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p:spPr>
        <p:txBody>
          <a:bodyPr wrap="square" rtlCol="0">
            <a:spAutoFit/>
          </a:bodyPr>
          <a:lstStyle/>
          <a:p>
            <a:r>
              <a:rPr lang="en-PK" sz="2800" dirty="0"/>
              <a:t>QUESTIONS</a:t>
            </a:r>
            <a:endParaRPr lang="en-PK" dirty="0"/>
          </a:p>
        </p:txBody>
      </p:sp>
    </p:spTree>
    <p:extLst>
      <p:ext uri="{BB962C8B-B14F-4D97-AF65-F5344CB8AC3E}">
        <p14:creationId xmlns:p14="http://schemas.microsoft.com/office/powerpoint/2010/main" val="17603631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Madison</Template>
  <TotalTime>1198</TotalTime>
  <Words>1628</Words>
  <Application>Microsoft Macintosh PowerPoint</Application>
  <PresentationFormat>Widescreen</PresentationFormat>
  <Paragraphs>106</Paragraphs>
  <Slides>16</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16</vt:i4>
      </vt:variant>
    </vt:vector>
  </HeadingPairs>
  <TitlesOfParts>
    <vt:vector size="30" baseType="lpstr">
      <vt:lpstr>Aptos</vt:lpstr>
      <vt:lpstr>Arial</vt:lpstr>
      <vt:lpstr>Cambria Math</vt:lpstr>
      <vt:lpstr>Courier New</vt:lpstr>
      <vt:lpstr>Helvetica</vt:lpstr>
      <vt:lpstr>MS Shell Dlg 2</vt:lpstr>
      <vt:lpstr>Segoe UI</vt:lpstr>
      <vt:lpstr>Symbol</vt:lpstr>
      <vt:lpstr>Times New Roman</vt:lpstr>
      <vt:lpstr>Wingdings</vt:lpstr>
      <vt:lpstr>Wingdings 3</vt:lpstr>
      <vt:lpstr>WordVisi_MSFontService</vt:lpstr>
      <vt:lpstr>WordVisiCarriageReturn_MSFontService</vt:lpstr>
      <vt:lpstr>Madison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22</cp:revision>
  <dcterms:created xsi:type="dcterms:W3CDTF">2025-12-12T03:31:03Z</dcterms:created>
  <dcterms:modified xsi:type="dcterms:W3CDTF">2025-12-13T10:01:49Z</dcterms:modified>
</cp:coreProperties>
</file>